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Retropix" charset="1" panose="00000000000000000000"/>
      <p:regular r:id="rId20"/>
    </p:embeddedFont>
    <p:embeddedFont>
      <p:font typeface="Arcade Gamer" charset="1" panose="00000000000000000000"/>
      <p:regular r:id="rId21"/>
    </p:embeddedFont>
    <p:embeddedFont>
      <p:font typeface="Helvetica World" charset="1" panose="020B0500040000020004"/>
      <p:regular r:id="rId22"/>
    </p:embeddedFont>
    <p:embeddedFont>
      <p:font typeface="Arimo" charset="1" panose="020B06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9.png" Type="http://schemas.openxmlformats.org/officeDocument/2006/relationships/image"/><Relationship Id="rId7" Target="../media/image2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gif"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gif"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67581" y="3667021"/>
            <a:ext cx="1571900" cy="803098"/>
          </a:xfrm>
          <a:custGeom>
            <a:avLst/>
            <a:gdLst/>
            <a:ahLst/>
            <a:cxnLst/>
            <a:rect r="r" b="b" t="t" l="l"/>
            <a:pathLst>
              <a:path h="803098" w="1571900">
                <a:moveTo>
                  <a:pt x="0" y="0"/>
                </a:moveTo>
                <a:lnTo>
                  <a:pt x="1571900" y="0"/>
                </a:lnTo>
                <a:lnTo>
                  <a:pt x="1571900" y="803098"/>
                </a:lnTo>
                <a:lnTo>
                  <a:pt x="0" y="8030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84603" y="627151"/>
            <a:ext cx="1571900" cy="803098"/>
          </a:xfrm>
          <a:custGeom>
            <a:avLst/>
            <a:gdLst/>
            <a:ahLst/>
            <a:cxnLst/>
            <a:rect r="r" b="b" t="t" l="l"/>
            <a:pathLst>
              <a:path h="803098" w="1571900">
                <a:moveTo>
                  <a:pt x="0" y="0"/>
                </a:moveTo>
                <a:lnTo>
                  <a:pt x="1571900" y="0"/>
                </a:lnTo>
                <a:lnTo>
                  <a:pt x="1571900" y="803098"/>
                </a:lnTo>
                <a:lnTo>
                  <a:pt x="0" y="8030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036796" y="1452175"/>
            <a:ext cx="837362" cy="742968"/>
          </a:xfrm>
          <a:custGeom>
            <a:avLst/>
            <a:gdLst/>
            <a:ahLst/>
            <a:cxnLst/>
            <a:rect r="r" b="b" t="t" l="l"/>
            <a:pathLst>
              <a:path h="742968" w="837362">
                <a:moveTo>
                  <a:pt x="0" y="0"/>
                </a:moveTo>
                <a:lnTo>
                  <a:pt x="837361" y="0"/>
                </a:lnTo>
                <a:lnTo>
                  <a:pt x="837361" y="742969"/>
                </a:lnTo>
                <a:lnTo>
                  <a:pt x="0" y="7429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60539" y="1430249"/>
            <a:ext cx="837362" cy="742968"/>
          </a:xfrm>
          <a:custGeom>
            <a:avLst/>
            <a:gdLst/>
            <a:ahLst/>
            <a:cxnLst/>
            <a:rect r="r" b="b" t="t" l="l"/>
            <a:pathLst>
              <a:path h="742968" w="837362">
                <a:moveTo>
                  <a:pt x="0" y="0"/>
                </a:moveTo>
                <a:lnTo>
                  <a:pt x="837361" y="0"/>
                </a:lnTo>
                <a:lnTo>
                  <a:pt x="837361" y="742968"/>
                </a:lnTo>
                <a:lnTo>
                  <a:pt x="0" y="7429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287191" y="1430249"/>
            <a:ext cx="837362" cy="742968"/>
          </a:xfrm>
          <a:custGeom>
            <a:avLst/>
            <a:gdLst/>
            <a:ahLst/>
            <a:cxnLst/>
            <a:rect r="r" b="b" t="t" l="l"/>
            <a:pathLst>
              <a:path h="742968" w="837362">
                <a:moveTo>
                  <a:pt x="0" y="0"/>
                </a:moveTo>
                <a:lnTo>
                  <a:pt x="837361" y="0"/>
                </a:lnTo>
                <a:lnTo>
                  <a:pt x="837361" y="742968"/>
                </a:lnTo>
                <a:lnTo>
                  <a:pt x="0" y="742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413843" y="1430249"/>
            <a:ext cx="837362" cy="742968"/>
          </a:xfrm>
          <a:custGeom>
            <a:avLst/>
            <a:gdLst/>
            <a:ahLst/>
            <a:cxnLst/>
            <a:rect r="r" b="b" t="t" l="l"/>
            <a:pathLst>
              <a:path h="742968" w="837362">
                <a:moveTo>
                  <a:pt x="0" y="0"/>
                </a:moveTo>
                <a:lnTo>
                  <a:pt x="837361" y="0"/>
                </a:lnTo>
                <a:lnTo>
                  <a:pt x="837361" y="742968"/>
                </a:lnTo>
                <a:lnTo>
                  <a:pt x="0" y="742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955826" y="7702130"/>
            <a:ext cx="1560258" cy="1407069"/>
          </a:xfrm>
          <a:custGeom>
            <a:avLst/>
            <a:gdLst/>
            <a:ahLst/>
            <a:cxnLst/>
            <a:rect r="r" b="b" t="t" l="l"/>
            <a:pathLst>
              <a:path h="1407069" w="1560258">
                <a:moveTo>
                  <a:pt x="0" y="0"/>
                </a:moveTo>
                <a:lnTo>
                  <a:pt x="1560259" y="0"/>
                </a:lnTo>
                <a:lnTo>
                  <a:pt x="1560259" y="1407069"/>
                </a:lnTo>
                <a:lnTo>
                  <a:pt x="0" y="14070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274769" y="7702130"/>
            <a:ext cx="1529423" cy="1407069"/>
          </a:xfrm>
          <a:custGeom>
            <a:avLst/>
            <a:gdLst/>
            <a:ahLst/>
            <a:cxnLst/>
            <a:rect r="r" b="b" t="t" l="l"/>
            <a:pathLst>
              <a:path h="1407069" w="1529423">
                <a:moveTo>
                  <a:pt x="0" y="0"/>
                </a:moveTo>
                <a:lnTo>
                  <a:pt x="1529424" y="0"/>
                </a:lnTo>
                <a:lnTo>
                  <a:pt x="1529424" y="1407069"/>
                </a:lnTo>
                <a:lnTo>
                  <a:pt x="0" y="14070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0" id="10"/>
          <p:cNvGrpSpPr/>
          <p:nvPr/>
        </p:nvGrpSpPr>
        <p:grpSpPr>
          <a:xfrm rot="0">
            <a:off x="-100368" y="9109199"/>
            <a:ext cx="18725104" cy="1250234"/>
            <a:chOff x="0" y="0"/>
            <a:chExt cx="24966805" cy="1666979"/>
          </a:xfrm>
        </p:grpSpPr>
        <p:sp>
          <p:nvSpPr>
            <p:cNvPr name="Freeform 11" id="11"/>
            <p:cNvSpPr/>
            <p:nvPr/>
          </p:nvSpPr>
          <p:spPr>
            <a:xfrm flipH="false" flipV="false" rot="0">
              <a:off x="0"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8899491"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15213205"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TextBox 14" id="14"/>
          <p:cNvSpPr txBox="true"/>
          <p:nvPr/>
        </p:nvSpPr>
        <p:spPr>
          <a:xfrm rot="0">
            <a:off x="2332174" y="2810659"/>
            <a:ext cx="13623653" cy="1472538"/>
          </a:xfrm>
          <a:prstGeom prst="rect">
            <a:avLst/>
          </a:prstGeom>
        </p:spPr>
        <p:txBody>
          <a:bodyPr anchor="t" rtlCol="false" tIns="0" lIns="0" bIns="0" rIns="0">
            <a:spAutoFit/>
          </a:bodyPr>
          <a:lstStyle/>
          <a:p>
            <a:pPr algn="ctr">
              <a:lnSpc>
                <a:spcPts val="9600"/>
              </a:lnSpc>
            </a:pPr>
            <a:r>
              <a:rPr lang="en-US" sz="9600" i="true" spc="1516">
                <a:solidFill>
                  <a:srgbClr val="FFD72B"/>
                </a:solidFill>
                <a:latin typeface="Retropix"/>
                <a:ea typeface="Retropix"/>
                <a:cs typeface="Retropix"/>
                <a:sym typeface="Retropix"/>
              </a:rPr>
              <a:t>QURA AND FRIENDS</a:t>
            </a:r>
          </a:p>
        </p:txBody>
      </p:sp>
      <p:sp>
        <p:nvSpPr>
          <p:cNvPr name="TextBox 15" id="15"/>
          <p:cNvSpPr txBox="true"/>
          <p:nvPr/>
        </p:nvSpPr>
        <p:spPr>
          <a:xfrm rot="0">
            <a:off x="4478307" y="4607047"/>
            <a:ext cx="9567754" cy="1500586"/>
          </a:xfrm>
          <a:prstGeom prst="rect">
            <a:avLst/>
          </a:prstGeom>
        </p:spPr>
        <p:txBody>
          <a:bodyPr anchor="t" rtlCol="false" tIns="0" lIns="0" bIns="0" rIns="0">
            <a:spAutoFit/>
          </a:bodyPr>
          <a:lstStyle/>
          <a:p>
            <a:pPr algn="ctr">
              <a:lnSpc>
                <a:spcPts val="3919"/>
              </a:lnSpc>
              <a:spcBef>
                <a:spcPct val="0"/>
              </a:spcBef>
            </a:pPr>
            <a:r>
              <a:rPr lang="en-US" sz="2799">
                <a:solidFill>
                  <a:srgbClr val="FFDE59"/>
                </a:solidFill>
                <a:latin typeface="Arcade Gamer"/>
                <a:ea typeface="Arcade Gamer"/>
                <a:cs typeface="Arcade Gamer"/>
                <a:sym typeface="Arcade Gamer"/>
              </a:rPr>
              <a:t>El puente interactivo hacia la tecnología del futuro para mentes jóvenes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2279957" y="937555"/>
            <a:ext cx="593181" cy="593181"/>
          </a:xfrm>
          <a:custGeom>
            <a:avLst/>
            <a:gdLst/>
            <a:ahLst/>
            <a:cxnLst/>
            <a:rect r="r" b="b" t="t" l="l"/>
            <a:pathLst>
              <a:path h="593181" w="593181">
                <a:moveTo>
                  <a:pt x="0" y="0"/>
                </a:moveTo>
                <a:lnTo>
                  <a:pt x="593182" y="0"/>
                </a:lnTo>
                <a:lnTo>
                  <a:pt x="593182" y="593181"/>
                </a:lnTo>
                <a:lnTo>
                  <a:pt x="0" y="593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12890" y="937555"/>
            <a:ext cx="593181" cy="593181"/>
          </a:xfrm>
          <a:custGeom>
            <a:avLst/>
            <a:gdLst/>
            <a:ahLst/>
            <a:cxnLst/>
            <a:rect r="r" b="b" t="t" l="l"/>
            <a:pathLst>
              <a:path h="593181" w="593181">
                <a:moveTo>
                  <a:pt x="0" y="0"/>
                </a:moveTo>
                <a:lnTo>
                  <a:pt x="593181" y="0"/>
                </a:lnTo>
                <a:lnTo>
                  <a:pt x="593181" y="593181"/>
                </a:lnTo>
                <a:lnTo>
                  <a:pt x="0" y="593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6208338" y="2325536"/>
            <a:ext cx="1387515" cy="138751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ln w="38100" cap="sq">
              <a:solidFill>
                <a:srgbClr val="D36411"/>
              </a:solidFill>
              <a:prstDash val="solid"/>
              <a:miter/>
            </a:ln>
          </p:spPr>
        </p:sp>
        <p:sp>
          <p:nvSpPr>
            <p:cNvPr name="TextBox 6" id="6"/>
            <p:cNvSpPr txBox="true"/>
            <p:nvPr/>
          </p:nvSpPr>
          <p:spPr>
            <a:xfrm>
              <a:off x="0" y="-114300"/>
              <a:ext cx="812800" cy="927100"/>
            </a:xfrm>
            <a:prstGeom prst="rect">
              <a:avLst/>
            </a:prstGeom>
          </p:spPr>
          <p:txBody>
            <a:bodyPr anchor="ctr" rtlCol="false" tIns="50800" lIns="50800" bIns="50800" rIns="50800"/>
            <a:lstStyle/>
            <a:p>
              <a:pPr algn="ctr">
                <a:lnSpc>
                  <a:spcPts val="5319"/>
                </a:lnSpc>
              </a:pPr>
              <a:r>
                <a:rPr lang="en-US" sz="3799">
                  <a:solidFill>
                    <a:srgbClr val="FFDE59"/>
                  </a:solidFill>
                  <a:latin typeface="Arcade Gamer"/>
                  <a:ea typeface="Arcade Gamer"/>
                  <a:cs typeface="Arcade Gamer"/>
                  <a:sym typeface="Arcade Gamer"/>
                </a:rPr>
                <a:t>01</a:t>
              </a:r>
            </a:p>
          </p:txBody>
        </p:sp>
      </p:grpSp>
      <p:grpSp>
        <p:nvGrpSpPr>
          <p:cNvPr name="Group 7" id="7"/>
          <p:cNvGrpSpPr/>
          <p:nvPr/>
        </p:nvGrpSpPr>
        <p:grpSpPr>
          <a:xfrm rot="0">
            <a:off x="10225520" y="2325536"/>
            <a:ext cx="1387515" cy="138751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ln w="38100" cap="sq">
              <a:solidFill>
                <a:srgbClr val="D36411"/>
              </a:solidFill>
              <a:prstDash val="solid"/>
              <a:miter/>
            </a:ln>
          </p:spPr>
        </p:sp>
        <p:sp>
          <p:nvSpPr>
            <p:cNvPr name="TextBox 9" id="9"/>
            <p:cNvSpPr txBox="true"/>
            <p:nvPr/>
          </p:nvSpPr>
          <p:spPr>
            <a:xfrm>
              <a:off x="0" y="-114300"/>
              <a:ext cx="812800" cy="927100"/>
            </a:xfrm>
            <a:prstGeom prst="rect">
              <a:avLst/>
            </a:prstGeom>
          </p:spPr>
          <p:txBody>
            <a:bodyPr anchor="ctr" rtlCol="false" tIns="50800" lIns="50800" bIns="50800" rIns="50800"/>
            <a:lstStyle/>
            <a:p>
              <a:pPr algn="ctr">
                <a:lnSpc>
                  <a:spcPts val="5319"/>
                </a:lnSpc>
              </a:pPr>
              <a:r>
                <a:rPr lang="en-US" sz="3799">
                  <a:solidFill>
                    <a:srgbClr val="FFDE59"/>
                  </a:solidFill>
                  <a:latin typeface="Arcade Gamer"/>
                  <a:ea typeface="Arcade Gamer"/>
                  <a:cs typeface="Arcade Gamer"/>
                  <a:sym typeface="Arcade Gamer"/>
                </a:rPr>
                <a:t>04</a:t>
              </a:r>
            </a:p>
          </p:txBody>
        </p:sp>
      </p:grpSp>
      <p:grpSp>
        <p:nvGrpSpPr>
          <p:cNvPr name="Group 10" id="10"/>
          <p:cNvGrpSpPr/>
          <p:nvPr/>
        </p:nvGrpSpPr>
        <p:grpSpPr>
          <a:xfrm rot="0">
            <a:off x="6208338" y="4776794"/>
            <a:ext cx="1387515" cy="13875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ln w="38100" cap="sq">
              <a:solidFill>
                <a:srgbClr val="D36411"/>
              </a:solidFill>
              <a:prstDash val="solid"/>
              <a:miter/>
            </a:ln>
          </p:spPr>
        </p:sp>
        <p:sp>
          <p:nvSpPr>
            <p:cNvPr name="TextBox 12" id="12"/>
            <p:cNvSpPr txBox="true"/>
            <p:nvPr/>
          </p:nvSpPr>
          <p:spPr>
            <a:xfrm>
              <a:off x="0" y="-114300"/>
              <a:ext cx="812800" cy="927100"/>
            </a:xfrm>
            <a:prstGeom prst="rect">
              <a:avLst/>
            </a:prstGeom>
          </p:spPr>
          <p:txBody>
            <a:bodyPr anchor="ctr" rtlCol="false" tIns="50800" lIns="50800" bIns="50800" rIns="50800"/>
            <a:lstStyle/>
            <a:p>
              <a:pPr algn="ctr">
                <a:lnSpc>
                  <a:spcPts val="5319"/>
                </a:lnSpc>
              </a:pPr>
              <a:r>
                <a:rPr lang="en-US" sz="3799">
                  <a:solidFill>
                    <a:srgbClr val="FFDE59"/>
                  </a:solidFill>
                  <a:latin typeface="Arcade Gamer"/>
                  <a:ea typeface="Arcade Gamer"/>
                  <a:cs typeface="Arcade Gamer"/>
                  <a:sym typeface="Arcade Gamer"/>
                </a:rPr>
                <a:t>02</a:t>
              </a:r>
            </a:p>
          </p:txBody>
        </p:sp>
      </p:grpSp>
      <p:grpSp>
        <p:nvGrpSpPr>
          <p:cNvPr name="Group 13" id="13"/>
          <p:cNvGrpSpPr/>
          <p:nvPr/>
        </p:nvGrpSpPr>
        <p:grpSpPr>
          <a:xfrm rot="0">
            <a:off x="10225520" y="4776794"/>
            <a:ext cx="1387515" cy="138751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ln w="38100" cap="sq">
              <a:solidFill>
                <a:srgbClr val="D36411"/>
              </a:solidFill>
              <a:prstDash val="solid"/>
              <a:miter/>
            </a:ln>
          </p:spPr>
        </p:sp>
        <p:sp>
          <p:nvSpPr>
            <p:cNvPr name="TextBox 15" id="15"/>
            <p:cNvSpPr txBox="true"/>
            <p:nvPr/>
          </p:nvSpPr>
          <p:spPr>
            <a:xfrm>
              <a:off x="0" y="-114300"/>
              <a:ext cx="812800" cy="927100"/>
            </a:xfrm>
            <a:prstGeom prst="rect">
              <a:avLst/>
            </a:prstGeom>
          </p:spPr>
          <p:txBody>
            <a:bodyPr anchor="ctr" rtlCol="false" tIns="50800" lIns="50800" bIns="50800" rIns="50800"/>
            <a:lstStyle/>
            <a:p>
              <a:pPr algn="ctr">
                <a:lnSpc>
                  <a:spcPts val="5319"/>
                </a:lnSpc>
              </a:pPr>
              <a:r>
                <a:rPr lang="en-US" sz="3799">
                  <a:solidFill>
                    <a:srgbClr val="FFDE59"/>
                  </a:solidFill>
                  <a:latin typeface="Arcade Gamer"/>
                  <a:ea typeface="Arcade Gamer"/>
                  <a:cs typeface="Arcade Gamer"/>
                  <a:sym typeface="Arcade Gamer"/>
                </a:rPr>
                <a:t>05</a:t>
              </a:r>
            </a:p>
          </p:txBody>
        </p:sp>
      </p:grpSp>
      <p:grpSp>
        <p:nvGrpSpPr>
          <p:cNvPr name="Group 16" id="16"/>
          <p:cNvGrpSpPr/>
          <p:nvPr/>
        </p:nvGrpSpPr>
        <p:grpSpPr>
          <a:xfrm rot="0">
            <a:off x="6208338" y="7225840"/>
            <a:ext cx="1387515" cy="138751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ln w="38100" cap="sq">
              <a:solidFill>
                <a:srgbClr val="D36411"/>
              </a:solidFill>
              <a:prstDash val="solid"/>
              <a:miter/>
            </a:ln>
          </p:spPr>
        </p:sp>
        <p:sp>
          <p:nvSpPr>
            <p:cNvPr name="TextBox 18" id="18"/>
            <p:cNvSpPr txBox="true"/>
            <p:nvPr/>
          </p:nvSpPr>
          <p:spPr>
            <a:xfrm>
              <a:off x="0" y="-114300"/>
              <a:ext cx="812800" cy="927100"/>
            </a:xfrm>
            <a:prstGeom prst="rect">
              <a:avLst/>
            </a:prstGeom>
          </p:spPr>
          <p:txBody>
            <a:bodyPr anchor="ctr" rtlCol="false" tIns="50800" lIns="50800" bIns="50800" rIns="50800"/>
            <a:lstStyle/>
            <a:p>
              <a:pPr algn="ctr">
                <a:lnSpc>
                  <a:spcPts val="5319"/>
                </a:lnSpc>
              </a:pPr>
              <a:r>
                <a:rPr lang="en-US" sz="3799">
                  <a:solidFill>
                    <a:srgbClr val="FFDE59"/>
                  </a:solidFill>
                  <a:latin typeface="Arcade Gamer"/>
                  <a:ea typeface="Arcade Gamer"/>
                  <a:cs typeface="Arcade Gamer"/>
                  <a:sym typeface="Arcade Gamer"/>
                </a:rPr>
                <a:t>03</a:t>
              </a:r>
            </a:p>
          </p:txBody>
        </p:sp>
      </p:grpSp>
      <p:grpSp>
        <p:nvGrpSpPr>
          <p:cNvPr name="Group 19" id="19"/>
          <p:cNvGrpSpPr/>
          <p:nvPr/>
        </p:nvGrpSpPr>
        <p:grpSpPr>
          <a:xfrm rot="0">
            <a:off x="10225520" y="7225840"/>
            <a:ext cx="1387515" cy="138751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ln w="38100" cap="sq">
              <a:solidFill>
                <a:srgbClr val="D36411"/>
              </a:solidFill>
              <a:prstDash val="solid"/>
              <a:miter/>
            </a:ln>
          </p:spPr>
        </p:sp>
        <p:sp>
          <p:nvSpPr>
            <p:cNvPr name="TextBox 21" id="21"/>
            <p:cNvSpPr txBox="true"/>
            <p:nvPr/>
          </p:nvSpPr>
          <p:spPr>
            <a:xfrm>
              <a:off x="0" y="-114300"/>
              <a:ext cx="812800" cy="927100"/>
            </a:xfrm>
            <a:prstGeom prst="rect">
              <a:avLst/>
            </a:prstGeom>
          </p:spPr>
          <p:txBody>
            <a:bodyPr anchor="ctr" rtlCol="false" tIns="50800" lIns="50800" bIns="50800" rIns="50800"/>
            <a:lstStyle/>
            <a:p>
              <a:pPr algn="ctr">
                <a:lnSpc>
                  <a:spcPts val="5319"/>
                </a:lnSpc>
              </a:pPr>
              <a:r>
                <a:rPr lang="en-US" sz="3799">
                  <a:solidFill>
                    <a:srgbClr val="FFDE59"/>
                  </a:solidFill>
                  <a:latin typeface="Arcade Gamer"/>
                  <a:ea typeface="Arcade Gamer"/>
                  <a:cs typeface="Arcade Gamer"/>
                  <a:sym typeface="Arcade Gamer"/>
                </a:rPr>
                <a:t>06</a:t>
              </a:r>
            </a:p>
          </p:txBody>
        </p:sp>
      </p:grpSp>
      <p:sp>
        <p:nvSpPr>
          <p:cNvPr name="TextBox 22" id="22"/>
          <p:cNvSpPr txBox="true"/>
          <p:nvPr/>
        </p:nvSpPr>
        <p:spPr>
          <a:xfrm rot="0">
            <a:off x="6560493" y="703535"/>
            <a:ext cx="5167015" cy="918346"/>
          </a:xfrm>
          <a:prstGeom prst="rect">
            <a:avLst/>
          </a:prstGeom>
        </p:spPr>
        <p:txBody>
          <a:bodyPr anchor="t" rtlCol="false" tIns="0" lIns="0" bIns="0" rIns="0">
            <a:spAutoFit/>
          </a:bodyPr>
          <a:lstStyle/>
          <a:p>
            <a:pPr algn="ctr">
              <a:lnSpc>
                <a:spcPts val="7132"/>
              </a:lnSpc>
              <a:spcBef>
                <a:spcPct val="0"/>
              </a:spcBef>
            </a:pPr>
            <a:r>
              <a:rPr lang="en-US" sz="5094">
                <a:solidFill>
                  <a:srgbClr val="FFD72B"/>
                </a:solidFill>
                <a:latin typeface="Arcade Gamer"/>
                <a:ea typeface="Arcade Gamer"/>
                <a:cs typeface="Arcade Gamer"/>
                <a:sym typeface="Arcade Gamer"/>
              </a:rPr>
              <a:t>CONTENIDO</a:t>
            </a:r>
          </a:p>
        </p:txBody>
      </p:sp>
      <p:sp>
        <p:nvSpPr>
          <p:cNvPr name="TextBox 23" id="23"/>
          <p:cNvSpPr txBox="true"/>
          <p:nvPr/>
        </p:nvSpPr>
        <p:spPr>
          <a:xfrm rot="0">
            <a:off x="2074236" y="2672921"/>
            <a:ext cx="3635245" cy="509932"/>
          </a:xfrm>
          <a:prstGeom prst="rect">
            <a:avLst/>
          </a:prstGeom>
        </p:spPr>
        <p:txBody>
          <a:bodyPr anchor="t" rtlCol="false" tIns="0" lIns="0" bIns="0" rIns="0">
            <a:spAutoFit/>
          </a:bodyPr>
          <a:lstStyle/>
          <a:p>
            <a:pPr algn="r">
              <a:lnSpc>
                <a:spcPts val="3919"/>
              </a:lnSpc>
              <a:spcBef>
                <a:spcPct val="0"/>
              </a:spcBef>
            </a:pPr>
            <a:r>
              <a:rPr lang="en-US" sz="2799">
                <a:solidFill>
                  <a:srgbClr val="FFD72B"/>
                </a:solidFill>
                <a:latin typeface="Arcade Gamer"/>
                <a:ea typeface="Arcade Gamer"/>
                <a:cs typeface="Arcade Gamer"/>
                <a:sym typeface="Arcade Gamer"/>
              </a:rPr>
              <a:t>PROBLEMÁTICA</a:t>
            </a:r>
          </a:p>
        </p:txBody>
      </p:sp>
      <p:sp>
        <p:nvSpPr>
          <p:cNvPr name="TextBox 24" id="24"/>
          <p:cNvSpPr txBox="true"/>
          <p:nvPr/>
        </p:nvSpPr>
        <p:spPr>
          <a:xfrm rot="0">
            <a:off x="1196127" y="4691069"/>
            <a:ext cx="4513354" cy="1500586"/>
          </a:xfrm>
          <a:prstGeom prst="rect">
            <a:avLst/>
          </a:prstGeom>
        </p:spPr>
        <p:txBody>
          <a:bodyPr anchor="t" rtlCol="false" tIns="0" lIns="0" bIns="0" rIns="0">
            <a:spAutoFit/>
          </a:bodyPr>
          <a:lstStyle/>
          <a:p>
            <a:pPr algn="r">
              <a:lnSpc>
                <a:spcPts val="3919"/>
              </a:lnSpc>
              <a:spcBef>
                <a:spcPct val="0"/>
              </a:spcBef>
            </a:pPr>
            <a:r>
              <a:rPr lang="en-US" sz="2799">
                <a:solidFill>
                  <a:srgbClr val="FFD72B"/>
                </a:solidFill>
                <a:latin typeface="Arcade Gamer"/>
                <a:ea typeface="Arcade Gamer"/>
                <a:cs typeface="Arcade Gamer"/>
                <a:sym typeface="Arcade Gamer"/>
              </a:rPr>
              <a:t>LA SOLUCIÓN PROPUESTA: QURA FRIENDS</a:t>
            </a:r>
          </a:p>
        </p:txBody>
      </p:sp>
      <p:sp>
        <p:nvSpPr>
          <p:cNvPr name="TextBox 25" id="25"/>
          <p:cNvSpPr txBox="true"/>
          <p:nvPr/>
        </p:nvSpPr>
        <p:spPr>
          <a:xfrm rot="0">
            <a:off x="2214687" y="7140115"/>
            <a:ext cx="3494794" cy="1500586"/>
          </a:xfrm>
          <a:prstGeom prst="rect">
            <a:avLst/>
          </a:prstGeom>
        </p:spPr>
        <p:txBody>
          <a:bodyPr anchor="t" rtlCol="false" tIns="0" lIns="0" bIns="0" rIns="0">
            <a:spAutoFit/>
          </a:bodyPr>
          <a:lstStyle/>
          <a:p>
            <a:pPr algn="r">
              <a:lnSpc>
                <a:spcPts val="3919"/>
              </a:lnSpc>
              <a:spcBef>
                <a:spcPct val="0"/>
              </a:spcBef>
            </a:pPr>
            <a:r>
              <a:rPr lang="en-US" sz="2799">
                <a:solidFill>
                  <a:srgbClr val="FFD72B"/>
                </a:solidFill>
                <a:latin typeface="Arcade Gamer"/>
                <a:ea typeface="Arcade Gamer"/>
                <a:cs typeface="Arcade Gamer"/>
                <a:sym typeface="Arcade Gamer"/>
              </a:rPr>
              <a:t>DINÁMICA DE LOS MINIJUEGOS</a:t>
            </a:r>
          </a:p>
        </p:txBody>
      </p:sp>
      <p:sp>
        <p:nvSpPr>
          <p:cNvPr name="TextBox 26" id="26"/>
          <p:cNvSpPr txBox="true"/>
          <p:nvPr/>
        </p:nvSpPr>
        <p:spPr>
          <a:xfrm rot="0">
            <a:off x="12108335" y="2389698"/>
            <a:ext cx="3681880" cy="1500586"/>
          </a:xfrm>
          <a:prstGeom prst="rect">
            <a:avLst/>
          </a:prstGeom>
        </p:spPr>
        <p:txBody>
          <a:bodyPr anchor="t" rtlCol="false" tIns="0" lIns="0" bIns="0" rIns="0">
            <a:spAutoFit/>
          </a:bodyPr>
          <a:lstStyle/>
          <a:p>
            <a:pPr algn="l">
              <a:lnSpc>
                <a:spcPts val="3920"/>
              </a:lnSpc>
              <a:spcBef>
                <a:spcPct val="0"/>
              </a:spcBef>
            </a:pPr>
            <a:r>
              <a:rPr lang="en-US" sz="2800">
                <a:solidFill>
                  <a:srgbClr val="FFD72B"/>
                </a:solidFill>
                <a:latin typeface="Arcade Gamer"/>
                <a:ea typeface="Arcade Gamer"/>
                <a:cs typeface="Arcade Gamer"/>
                <a:sym typeface="Arcade Gamer"/>
              </a:rPr>
              <a:t>LOGICA DETRAS DE LOS MINIJUEGOS</a:t>
            </a:r>
          </a:p>
        </p:txBody>
      </p:sp>
      <p:sp>
        <p:nvSpPr>
          <p:cNvPr name="TextBox 27" id="27"/>
          <p:cNvSpPr txBox="true"/>
          <p:nvPr/>
        </p:nvSpPr>
        <p:spPr>
          <a:xfrm rot="0">
            <a:off x="12108335" y="4925059"/>
            <a:ext cx="3222312" cy="1005259"/>
          </a:xfrm>
          <a:prstGeom prst="rect">
            <a:avLst/>
          </a:prstGeom>
        </p:spPr>
        <p:txBody>
          <a:bodyPr anchor="t" rtlCol="false" tIns="0" lIns="0" bIns="0" rIns="0">
            <a:spAutoFit/>
          </a:bodyPr>
          <a:lstStyle/>
          <a:p>
            <a:pPr algn="l">
              <a:lnSpc>
                <a:spcPts val="3919"/>
              </a:lnSpc>
              <a:spcBef>
                <a:spcPct val="0"/>
              </a:spcBef>
            </a:pPr>
            <a:r>
              <a:rPr lang="en-US" sz="2799">
                <a:solidFill>
                  <a:srgbClr val="FFD72B"/>
                </a:solidFill>
                <a:latin typeface="Arcade Gamer"/>
                <a:ea typeface="Arcade Gamer"/>
                <a:cs typeface="Arcade Gamer"/>
                <a:sym typeface="Arcade Gamer"/>
              </a:rPr>
              <a:t>NUESTRO EQUIPO</a:t>
            </a:r>
          </a:p>
        </p:txBody>
      </p:sp>
      <p:sp>
        <p:nvSpPr>
          <p:cNvPr name="TextBox 28" id="28"/>
          <p:cNvSpPr txBox="true"/>
          <p:nvPr/>
        </p:nvSpPr>
        <p:spPr>
          <a:xfrm rot="0">
            <a:off x="12279957" y="7140115"/>
            <a:ext cx="4257831" cy="1005259"/>
          </a:xfrm>
          <a:prstGeom prst="rect">
            <a:avLst/>
          </a:prstGeom>
        </p:spPr>
        <p:txBody>
          <a:bodyPr anchor="t" rtlCol="false" tIns="0" lIns="0" bIns="0" rIns="0">
            <a:spAutoFit/>
          </a:bodyPr>
          <a:lstStyle/>
          <a:p>
            <a:pPr algn="l">
              <a:lnSpc>
                <a:spcPts val="3919"/>
              </a:lnSpc>
              <a:spcBef>
                <a:spcPct val="0"/>
              </a:spcBef>
            </a:pPr>
            <a:r>
              <a:rPr lang="en-US" sz="2799">
                <a:solidFill>
                  <a:srgbClr val="FFD72B"/>
                </a:solidFill>
                <a:latin typeface="Arcade Gamer"/>
                <a:ea typeface="Arcade Gamer"/>
                <a:cs typeface="Arcade Gamer"/>
                <a:sym typeface="Arcade Gamer"/>
              </a:rPr>
              <a:t>ESCALABILIDAD Y TRAZABILIDAD</a:t>
            </a:r>
          </a:p>
        </p:txBody>
      </p:sp>
      <p:sp>
        <p:nvSpPr>
          <p:cNvPr name="Freeform 29" id="29"/>
          <p:cNvSpPr/>
          <p:nvPr/>
        </p:nvSpPr>
        <p:spPr>
          <a:xfrm flipH="false" flipV="false" rot="0">
            <a:off x="14751520" y="522631"/>
            <a:ext cx="2507780" cy="414924"/>
          </a:xfrm>
          <a:custGeom>
            <a:avLst/>
            <a:gdLst/>
            <a:ahLst/>
            <a:cxnLst/>
            <a:rect r="r" b="b" t="t" l="l"/>
            <a:pathLst>
              <a:path h="414924" w="2507780">
                <a:moveTo>
                  <a:pt x="0" y="0"/>
                </a:moveTo>
                <a:lnTo>
                  <a:pt x="2507780" y="0"/>
                </a:lnTo>
                <a:lnTo>
                  <a:pt x="2507780" y="414924"/>
                </a:lnTo>
                <a:lnTo>
                  <a:pt x="0" y="414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899170" y="389335"/>
            <a:ext cx="2814968" cy="465749"/>
          </a:xfrm>
          <a:custGeom>
            <a:avLst/>
            <a:gdLst/>
            <a:ahLst/>
            <a:cxnLst/>
            <a:rect r="r" b="b" t="t" l="l"/>
            <a:pathLst>
              <a:path h="465749" w="2814968">
                <a:moveTo>
                  <a:pt x="0" y="0"/>
                </a:moveTo>
                <a:lnTo>
                  <a:pt x="2814968" y="0"/>
                </a:lnTo>
                <a:lnTo>
                  <a:pt x="2814968" y="465749"/>
                </a:lnTo>
                <a:lnTo>
                  <a:pt x="0" y="4657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0137" y="9100269"/>
            <a:ext cx="18725104" cy="1250234"/>
            <a:chOff x="0" y="0"/>
            <a:chExt cx="24966805" cy="1666979"/>
          </a:xfrm>
        </p:grpSpPr>
        <p:sp>
          <p:nvSpPr>
            <p:cNvPr name="Freeform 4" id="4"/>
            <p:cNvSpPr/>
            <p:nvPr/>
          </p:nvSpPr>
          <p:spPr>
            <a:xfrm flipH="false" flipV="false" rot="0">
              <a:off x="0"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899491"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213205"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2001605" y="5668130"/>
            <a:ext cx="4319636" cy="4471952"/>
          </a:xfrm>
          <a:custGeom>
            <a:avLst/>
            <a:gdLst/>
            <a:ahLst/>
            <a:cxnLst/>
            <a:rect r="r" b="b" t="t" l="l"/>
            <a:pathLst>
              <a:path h="4471952" w="4319636">
                <a:moveTo>
                  <a:pt x="0" y="0"/>
                </a:moveTo>
                <a:lnTo>
                  <a:pt x="4319637" y="0"/>
                </a:lnTo>
                <a:lnTo>
                  <a:pt x="4319637" y="4471952"/>
                </a:lnTo>
                <a:lnTo>
                  <a:pt x="0" y="4471952"/>
                </a:lnTo>
                <a:lnTo>
                  <a:pt x="0" y="0"/>
                </a:lnTo>
                <a:close/>
              </a:path>
            </a:pathLst>
          </a:custGeom>
          <a:blipFill>
            <a:blip r:embed="rId6"/>
            <a:stretch>
              <a:fillRect l="-9362" t="-40418" r="0" b="-47382"/>
            </a:stretch>
          </a:blipFill>
        </p:spPr>
      </p:sp>
      <p:sp>
        <p:nvSpPr>
          <p:cNvPr name="Freeform 8" id="8"/>
          <p:cNvSpPr/>
          <p:nvPr/>
        </p:nvSpPr>
        <p:spPr>
          <a:xfrm flipH="false" flipV="false" rot="0">
            <a:off x="11886827" y="6049158"/>
            <a:ext cx="3709896" cy="3709896"/>
          </a:xfrm>
          <a:custGeom>
            <a:avLst/>
            <a:gdLst/>
            <a:ahLst/>
            <a:cxnLst/>
            <a:rect r="r" b="b" t="t" l="l"/>
            <a:pathLst>
              <a:path h="3709896" w="3709896">
                <a:moveTo>
                  <a:pt x="0" y="0"/>
                </a:moveTo>
                <a:lnTo>
                  <a:pt x="3709895" y="0"/>
                </a:lnTo>
                <a:lnTo>
                  <a:pt x="3709895" y="3709896"/>
                </a:lnTo>
                <a:lnTo>
                  <a:pt x="0" y="3709896"/>
                </a:lnTo>
                <a:lnTo>
                  <a:pt x="0" y="0"/>
                </a:lnTo>
                <a:close/>
              </a:path>
            </a:pathLst>
          </a:custGeom>
          <a:blipFill>
            <a:blip r:embed="rId7"/>
            <a:stretch>
              <a:fillRect l="0" t="0" r="0" b="0"/>
            </a:stretch>
          </a:blipFill>
        </p:spPr>
      </p:sp>
      <p:sp>
        <p:nvSpPr>
          <p:cNvPr name="TextBox 9" id="9"/>
          <p:cNvSpPr txBox="true"/>
          <p:nvPr/>
        </p:nvSpPr>
        <p:spPr>
          <a:xfrm rot="0">
            <a:off x="364797" y="268911"/>
            <a:ext cx="6983354" cy="1010422"/>
          </a:xfrm>
          <a:prstGeom prst="rect">
            <a:avLst/>
          </a:prstGeom>
        </p:spPr>
        <p:txBody>
          <a:bodyPr anchor="t" rtlCol="false" tIns="0" lIns="0" bIns="0" rIns="0">
            <a:spAutoFit/>
          </a:bodyPr>
          <a:lstStyle/>
          <a:p>
            <a:pPr algn="ctr">
              <a:lnSpc>
                <a:spcPts val="7832"/>
              </a:lnSpc>
              <a:spcBef>
                <a:spcPct val="0"/>
              </a:spcBef>
            </a:pPr>
            <a:r>
              <a:rPr lang="en-US" sz="5594">
                <a:solidFill>
                  <a:srgbClr val="FFD72B"/>
                </a:solidFill>
                <a:latin typeface="Arcade Gamer"/>
                <a:ea typeface="Arcade Gamer"/>
                <a:cs typeface="Arcade Gamer"/>
                <a:sym typeface="Arcade Gamer"/>
              </a:rPr>
              <a:t>PROBLEMÁTICA</a:t>
            </a:r>
          </a:p>
        </p:txBody>
      </p:sp>
      <p:sp>
        <p:nvSpPr>
          <p:cNvPr name="TextBox 10" id="10"/>
          <p:cNvSpPr txBox="true"/>
          <p:nvPr/>
        </p:nvSpPr>
        <p:spPr>
          <a:xfrm rot="0">
            <a:off x="364797" y="1303892"/>
            <a:ext cx="17509661" cy="567720"/>
          </a:xfrm>
          <a:prstGeom prst="rect">
            <a:avLst/>
          </a:prstGeom>
        </p:spPr>
        <p:txBody>
          <a:bodyPr anchor="t" rtlCol="false" tIns="0" lIns="0" bIns="0" rIns="0">
            <a:spAutoFit/>
          </a:bodyPr>
          <a:lstStyle/>
          <a:p>
            <a:pPr algn="just">
              <a:lnSpc>
                <a:spcPts val="4406"/>
              </a:lnSpc>
            </a:pPr>
            <a:r>
              <a:rPr lang="en-US" sz="3147">
                <a:solidFill>
                  <a:srgbClr val="FFDE59"/>
                </a:solidFill>
                <a:latin typeface="Arcade Gamer"/>
                <a:ea typeface="Arcade Gamer"/>
                <a:cs typeface="Arcade Gamer"/>
                <a:sym typeface="Arcade Gamer"/>
              </a:rPr>
              <a:t>POR QUÉ LOS ADOLESCENTES RECHAZAN LA FÍSICA CUÁNTICA HOY </a:t>
            </a:r>
          </a:p>
        </p:txBody>
      </p:sp>
      <p:sp>
        <p:nvSpPr>
          <p:cNvPr name="TextBox 11" id="11"/>
          <p:cNvSpPr txBox="true"/>
          <p:nvPr/>
        </p:nvSpPr>
        <p:spPr>
          <a:xfrm rot="0">
            <a:off x="9769411" y="2226076"/>
            <a:ext cx="7944727" cy="3929521"/>
          </a:xfrm>
          <a:prstGeom prst="rect">
            <a:avLst/>
          </a:prstGeom>
        </p:spPr>
        <p:txBody>
          <a:bodyPr anchor="t" rtlCol="false" tIns="0" lIns="0" bIns="0" rIns="0">
            <a:spAutoFit/>
          </a:bodyPr>
          <a:lstStyle/>
          <a:p>
            <a:pPr algn="just">
              <a:lnSpc>
                <a:spcPts val="4399"/>
              </a:lnSpc>
            </a:pPr>
            <a:r>
              <a:rPr lang="en-US" sz="3142">
                <a:solidFill>
                  <a:srgbClr val="FFE7C0"/>
                </a:solidFill>
                <a:latin typeface="Arcade Gamer"/>
                <a:ea typeface="Arcade Gamer"/>
                <a:cs typeface="Arcade Gamer"/>
                <a:sym typeface="Arcade Gamer"/>
              </a:rPr>
              <a:t>2. EL MURO MATEMÁTICO (SOBRECARGA COGNITIVA):</a:t>
            </a:r>
          </a:p>
          <a:p>
            <a:pPr algn="just">
              <a:lnSpc>
                <a:spcPts val="3815"/>
              </a:lnSpc>
            </a:pPr>
            <a:r>
              <a:rPr lang="en-US" sz="2725">
                <a:solidFill>
                  <a:srgbClr val="FFFFFF"/>
                </a:solidFill>
                <a:latin typeface="Helvetica World"/>
                <a:ea typeface="Helvetica World"/>
                <a:cs typeface="Helvetica World"/>
                <a:sym typeface="Helvetica World"/>
              </a:rPr>
              <a:t>Explicar la computación cuántica mediante álgebra lineal y fórmulas complejas genera un bloqueo mental inmediato. Esta abstracción extrema exige demasiado esfuerzo cognitivo, lo que se traduce rápidamente en frustración y abandono.</a:t>
            </a:r>
          </a:p>
          <a:p>
            <a:pPr algn="just">
              <a:lnSpc>
                <a:spcPts val="3419"/>
              </a:lnSpc>
              <a:spcBef>
                <a:spcPct val="0"/>
              </a:spcBef>
            </a:pPr>
            <a:r>
              <a:rPr lang="en-US" sz="2442">
                <a:solidFill>
                  <a:srgbClr val="FFFFFF"/>
                </a:solidFill>
                <a:latin typeface="Helvetica World"/>
                <a:ea typeface="Helvetica World"/>
                <a:cs typeface="Helvetica World"/>
                <a:sym typeface="Helvetica World"/>
              </a:rPr>
              <a:t> </a:t>
            </a:r>
          </a:p>
        </p:txBody>
      </p:sp>
      <p:sp>
        <p:nvSpPr>
          <p:cNvPr name="TextBox 12" id="12"/>
          <p:cNvSpPr txBox="true"/>
          <p:nvPr/>
        </p:nvSpPr>
        <p:spPr>
          <a:xfrm rot="0">
            <a:off x="364797" y="2226076"/>
            <a:ext cx="8091620" cy="4309029"/>
          </a:xfrm>
          <a:prstGeom prst="rect">
            <a:avLst/>
          </a:prstGeom>
        </p:spPr>
        <p:txBody>
          <a:bodyPr anchor="t" rtlCol="false" tIns="0" lIns="0" bIns="0" rIns="0">
            <a:spAutoFit/>
          </a:bodyPr>
          <a:lstStyle/>
          <a:p>
            <a:pPr algn="just">
              <a:lnSpc>
                <a:spcPts val="4383"/>
              </a:lnSpc>
            </a:pPr>
            <a:r>
              <a:rPr lang="en-US" sz="3130">
                <a:solidFill>
                  <a:srgbClr val="FFE7C0"/>
                </a:solidFill>
                <a:latin typeface="Arcade Gamer"/>
                <a:ea typeface="Arcade Gamer"/>
                <a:cs typeface="Arcade Gamer"/>
                <a:sym typeface="Arcade Gamer"/>
              </a:rPr>
              <a:t>1. CAÍDA DE ATENCIÓN (FORMATO INCOMPATIBLE):</a:t>
            </a:r>
          </a:p>
          <a:p>
            <a:pPr algn="just">
              <a:lnSpc>
                <a:spcPts val="3815"/>
              </a:lnSpc>
            </a:pPr>
            <a:r>
              <a:rPr lang="en-US" sz="2725">
                <a:solidFill>
                  <a:srgbClr val="FFFFFF"/>
                </a:solidFill>
                <a:latin typeface="Helvetica World"/>
                <a:ea typeface="Helvetica World"/>
                <a:cs typeface="Helvetica World"/>
                <a:sym typeface="Helvetica World"/>
              </a:rPr>
              <a:t>La enseñanza teórica tradicional choca con la forma en que los adolescentes consumen información hoy. Al enfrentarse a textos pasivos sobre conceptos abstractos, pierden la concentración en los primeros minutos por falta de estímulos y respuestas dinámicas.</a:t>
            </a:r>
          </a:p>
          <a:p>
            <a:pPr algn="just">
              <a:lnSpc>
                <a:spcPts val="2555"/>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23879" y="3610532"/>
            <a:ext cx="4631965" cy="4631965"/>
          </a:xfrm>
          <a:custGeom>
            <a:avLst/>
            <a:gdLst/>
            <a:ahLst/>
            <a:cxnLst/>
            <a:rect r="r" b="b" t="t" l="l"/>
            <a:pathLst>
              <a:path h="4631965" w="4631965">
                <a:moveTo>
                  <a:pt x="0" y="0"/>
                </a:moveTo>
                <a:lnTo>
                  <a:pt x="4631965" y="0"/>
                </a:lnTo>
                <a:lnTo>
                  <a:pt x="4631965" y="4631965"/>
                </a:lnTo>
                <a:lnTo>
                  <a:pt x="0" y="4631965"/>
                </a:lnTo>
                <a:lnTo>
                  <a:pt x="0" y="0"/>
                </a:lnTo>
                <a:close/>
              </a:path>
            </a:pathLst>
          </a:custGeom>
          <a:blipFill>
            <a:blip r:embed="rId2"/>
            <a:stretch>
              <a:fillRect l="0" t="0" r="0" b="0"/>
            </a:stretch>
          </a:blipFill>
        </p:spPr>
      </p:sp>
      <p:sp>
        <p:nvSpPr>
          <p:cNvPr name="TextBox 3" id="3"/>
          <p:cNvSpPr txBox="true"/>
          <p:nvPr/>
        </p:nvSpPr>
        <p:spPr>
          <a:xfrm rot="0">
            <a:off x="423879" y="771775"/>
            <a:ext cx="16180319" cy="2657231"/>
          </a:xfrm>
          <a:prstGeom prst="rect">
            <a:avLst/>
          </a:prstGeom>
        </p:spPr>
        <p:txBody>
          <a:bodyPr anchor="t" rtlCol="false" tIns="0" lIns="0" bIns="0" rIns="0">
            <a:spAutoFit/>
          </a:bodyPr>
          <a:lstStyle/>
          <a:p>
            <a:pPr algn="l">
              <a:lnSpc>
                <a:spcPts val="4589"/>
              </a:lnSpc>
              <a:spcBef>
                <a:spcPct val="0"/>
              </a:spcBef>
            </a:pPr>
            <a:r>
              <a:rPr lang="en-US" sz="3278">
                <a:solidFill>
                  <a:srgbClr val="FFE7C0"/>
                </a:solidFill>
                <a:latin typeface="Arcade Gamer"/>
                <a:ea typeface="Arcade Gamer"/>
                <a:cs typeface="Arcade Gamer"/>
                <a:sym typeface="Arcade Gamer"/>
              </a:rPr>
              <a:t>3. METÁFORAS </a:t>
            </a:r>
            <a:r>
              <a:rPr lang="en-US" sz="3278">
                <a:solidFill>
                  <a:srgbClr val="FFE7C0"/>
                </a:solidFill>
                <a:latin typeface="Arcade Gamer"/>
                <a:ea typeface="Arcade Gamer"/>
                <a:cs typeface="Arcade Gamer"/>
                <a:sym typeface="Arcade Gamer"/>
              </a:rPr>
              <a:t>ESTÁTICAS (CONCEPTOS CONTRAINTUITIVOS):</a:t>
            </a:r>
          </a:p>
          <a:p>
            <a:pPr algn="l">
              <a:lnSpc>
                <a:spcPts val="3889"/>
              </a:lnSpc>
              <a:spcBef>
                <a:spcPct val="0"/>
              </a:spcBef>
            </a:pPr>
            <a:r>
              <a:rPr lang="en-US" sz="2778">
                <a:solidFill>
                  <a:srgbClr val="FFFFFF"/>
                </a:solidFill>
                <a:latin typeface="Helvetica World"/>
                <a:ea typeface="Helvetica World"/>
                <a:cs typeface="Helvetica World"/>
                <a:sym typeface="Helvetica World"/>
              </a:rPr>
              <a:t>Utilizar diagramas fijos o ejemplos como el "Gato de Schrödinger" no genera</a:t>
            </a:r>
            <a:r>
              <a:rPr lang="en-US" sz="2778">
                <a:solidFill>
                  <a:srgbClr val="FFFFFF"/>
                </a:solidFill>
                <a:latin typeface="Helvetica World"/>
                <a:ea typeface="Helvetica World"/>
                <a:cs typeface="Helvetica World"/>
                <a:sym typeface="Helvetica World"/>
              </a:rPr>
              <a:t> comprensión real. Al ser el mundo cuántico ajeno a nuestra lógica diaria, intentar entenderlo solo leyendo se percibe como ilógico o "mágico".</a:t>
            </a:r>
          </a:p>
          <a:p>
            <a:pPr algn="l">
              <a:lnSpc>
                <a:spcPts val="4869"/>
              </a:lnSpc>
              <a:spcBef>
                <a:spcPct val="0"/>
              </a:spcBef>
            </a:pPr>
          </a:p>
        </p:txBody>
      </p:sp>
      <p:sp>
        <p:nvSpPr>
          <p:cNvPr name="TextBox 4" id="4"/>
          <p:cNvSpPr txBox="true"/>
          <p:nvPr/>
        </p:nvSpPr>
        <p:spPr>
          <a:xfrm rot="0">
            <a:off x="5766724" y="3729042"/>
            <a:ext cx="11719677" cy="3238202"/>
          </a:xfrm>
          <a:prstGeom prst="rect">
            <a:avLst/>
          </a:prstGeom>
        </p:spPr>
        <p:txBody>
          <a:bodyPr anchor="t" rtlCol="false" tIns="0" lIns="0" bIns="0" rIns="0">
            <a:spAutoFit/>
          </a:bodyPr>
          <a:lstStyle/>
          <a:p>
            <a:pPr algn="l">
              <a:lnSpc>
                <a:spcPts val="4589"/>
              </a:lnSpc>
              <a:spcBef>
                <a:spcPct val="0"/>
              </a:spcBef>
            </a:pPr>
            <a:r>
              <a:rPr lang="en-US" sz="3278">
                <a:solidFill>
                  <a:srgbClr val="FFE7C0"/>
                </a:solidFill>
                <a:latin typeface="Arcade Gamer"/>
                <a:ea typeface="Arcade Gamer"/>
                <a:cs typeface="Arcade Gamer"/>
                <a:sym typeface="Arcade Gamer"/>
              </a:rPr>
              <a:t>4. FALTA DE APLICABILIDAD (BAJA RETENCIÓN):</a:t>
            </a:r>
          </a:p>
          <a:p>
            <a:pPr algn="l">
              <a:lnSpc>
                <a:spcPts val="3889"/>
              </a:lnSpc>
              <a:spcBef>
                <a:spcPct val="0"/>
              </a:spcBef>
            </a:pPr>
            <a:r>
              <a:rPr lang="en-US" sz="2778">
                <a:solidFill>
                  <a:srgbClr val="FFFFFF"/>
                </a:solidFill>
                <a:latin typeface="Helvetica World"/>
                <a:ea typeface="Helvetica World"/>
                <a:cs typeface="Helvetica World"/>
                <a:sym typeface="Helvetica World"/>
              </a:rPr>
              <a:t>Aprender algoritmos de optimización resulta árido si no hay un problema tangible que resolver. Sin la posibilidad de experimentar, fallar e iterar en tiempo real, el conocimiento teórico no se ancla y se olvida rápidamente.</a:t>
            </a:r>
          </a:p>
          <a:p>
            <a:pPr algn="l">
              <a:lnSpc>
                <a:spcPts val="4869"/>
              </a:lnSpc>
              <a:spcBef>
                <a:spcPct val="0"/>
              </a:spcBef>
            </a:pPr>
          </a:p>
        </p:txBody>
      </p:sp>
      <p:grpSp>
        <p:nvGrpSpPr>
          <p:cNvPr name="Group 5" id="5"/>
          <p:cNvGrpSpPr/>
          <p:nvPr/>
        </p:nvGrpSpPr>
        <p:grpSpPr>
          <a:xfrm rot="0">
            <a:off x="-140137" y="9100269"/>
            <a:ext cx="18725104" cy="1250234"/>
            <a:chOff x="0" y="0"/>
            <a:chExt cx="24966805" cy="1666979"/>
          </a:xfrm>
        </p:grpSpPr>
        <p:sp>
          <p:nvSpPr>
            <p:cNvPr name="Freeform 6" id="6"/>
            <p:cNvSpPr/>
            <p:nvPr/>
          </p:nvSpPr>
          <p:spPr>
            <a:xfrm flipH="false" flipV="false" rot="0">
              <a:off x="0"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899491"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5213205" y="0"/>
              <a:ext cx="9753600" cy="1666979"/>
            </a:xfrm>
            <a:custGeom>
              <a:avLst/>
              <a:gdLst/>
              <a:ahLst/>
              <a:cxnLst/>
              <a:rect r="r" b="b" t="t" l="l"/>
              <a:pathLst>
                <a:path h="1666979" w="9753600">
                  <a:moveTo>
                    <a:pt x="0" y="0"/>
                  </a:moveTo>
                  <a:lnTo>
                    <a:pt x="9753600" y="0"/>
                  </a:lnTo>
                  <a:lnTo>
                    <a:pt x="9753600" y="1666979"/>
                  </a:lnTo>
                  <a:lnTo>
                    <a:pt x="0" y="1666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521935" y="479378"/>
            <a:ext cx="905659" cy="384100"/>
          </a:xfrm>
          <a:custGeom>
            <a:avLst/>
            <a:gdLst/>
            <a:ahLst/>
            <a:cxnLst/>
            <a:rect r="r" b="b" t="t" l="l"/>
            <a:pathLst>
              <a:path h="384100" w="905659">
                <a:moveTo>
                  <a:pt x="0" y="0"/>
                </a:moveTo>
                <a:lnTo>
                  <a:pt x="905659" y="0"/>
                </a:lnTo>
                <a:lnTo>
                  <a:pt x="905659"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15431570" y="479378"/>
            <a:ext cx="905659" cy="384100"/>
          </a:xfrm>
          <a:custGeom>
            <a:avLst/>
            <a:gdLst/>
            <a:ahLst/>
            <a:cxnLst/>
            <a:rect r="r" b="b" t="t" l="l"/>
            <a:pathLst>
              <a:path h="384100" w="905659">
                <a:moveTo>
                  <a:pt x="0" y="0"/>
                </a:moveTo>
                <a:lnTo>
                  <a:pt x="905660" y="0"/>
                </a:lnTo>
                <a:lnTo>
                  <a:pt x="905660"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4" id="4"/>
          <p:cNvSpPr/>
          <p:nvPr/>
        </p:nvSpPr>
        <p:spPr>
          <a:xfrm flipH="false" flipV="false" rot="0">
            <a:off x="1869423" y="5278883"/>
            <a:ext cx="3246533" cy="2798738"/>
          </a:xfrm>
          <a:custGeom>
            <a:avLst/>
            <a:gdLst/>
            <a:ahLst/>
            <a:cxnLst/>
            <a:rect r="r" b="b" t="t" l="l"/>
            <a:pathLst>
              <a:path h="2798738" w="3246533">
                <a:moveTo>
                  <a:pt x="0" y="0"/>
                </a:moveTo>
                <a:lnTo>
                  <a:pt x="3246533" y="0"/>
                </a:lnTo>
                <a:lnTo>
                  <a:pt x="3246533" y="2798738"/>
                </a:lnTo>
                <a:lnTo>
                  <a:pt x="0" y="2798738"/>
                </a:lnTo>
                <a:lnTo>
                  <a:pt x="0" y="0"/>
                </a:lnTo>
                <a:close/>
              </a:path>
            </a:pathLst>
          </a:custGeom>
          <a:blipFill>
            <a:blip r:embed="rId4"/>
            <a:stretch>
              <a:fillRect l="0" t="0" r="0" b="-50862"/>
            </a:stretch>
          </a:blipFill>
        </p:spPr>
      </p:sp>
      <p:sp>
        <p:nvSpPr>
          <p:cNvPr name="Freeform 5" id="5"/>
          <p:cNvSpPr/>
          <p:nvPr/>
        </p:nvSpPr>
        <p:spPr>
          <a:xfrm flipH="false" flipV="false" rot="0">
            <a:off x="12124442" y="6599815"/>
            <a:ext cx="2447361" cy="3514380"/>
          </a:xfrm>
          <a:custGeom>
            <a:avLst/>
            <a:gdLst/>
            <a:ahLst/>
            <a:cxnLst/>
            <a:rect r="r" b="b" t="t" l="l"/>
            <a:pathLst>
              <a:path h="3514380" w="2447361">
                <a:moveTo>
                  <a:pt x="0" y="0"/>
                </a:moveTo>
                <a:lnTo>
                  <a:pt x="2447360" y="0"/>
                </a:lnTo>
                <a:lnTo>
                  <a:pt x="2447360" y="3514380"/>
                </a:lnTo>
                <a:lnTo>
                  <a:pt x="0" y="3514380"/>
                </a:lnTo>
                <a:lnTo>
                  <a:pt x="0" y="0"/>
                </a:lnTo>
                <a:close/>
              </a:path>
            </a:pathLst>
          </a:custGeom>
          <a:blipFill>
            <a:blip r:embed="rId5"/>
            <a:stretch>
              <a:fillRect l="-2707" t="0" r="-2707" b="0"/>
            </a:stretch>
          </a:blipFill>
        </p:spPr>
      </p:sp>
      <p:sp>
        <p:nvSpPr>
          <p:cNvPr name="Freeform 6" id="6"/>
          <p:cNvSpPr/>
          <p:nvPr/>
        </p:nvSpPr>
        <p:spPr>
          <a:xfrm flipH="false" flipV="false" rot="0">
            <a:off x="14677669" y="6678252"/>
            <a:ext cx="2641942" cy="3435943"/>
          </a:xfrm>
          <a:custGeom>
            <a:avLst/>
            <a:gdLst/>
            <a:ahLst/>
            <a:cxnLst/>
            <a:rect r="r" b="b" t="t" l="l"/>
            <a:pathLst>
              <a:path h="3435943" w="2641942">
                <a:moveTo>
                  <a:pt x="0" y="0"/>
                </a:moveTo>
                <a:lnTo>
                  <a:pt x="2641942" y="0"/>
                </a:lnTo>
                <a:lnTo>
                  <a:pt x="2641942" y="3435943"/>
                </a:lnTo>
                <a:lnTo>
                  <a:pt x="0" y="3435943"/>
                </a:lnTo>
                <a:lnTo>
                  <a:pt x="0" y="0"/>
                </a:lnTo>
                <a:close/>
              </a:path>
            </a:pathLst>
          </a:custGeom>
          <a:blipFill>
            <a:blip r:embed="rId6"/>
            <a:stretch>
              <a:fillRect l="0" t="0" r="0" b="0"/>
            </a:stretch>
          </a:blipFill>
        </p:spPr>
      </p:sp>
      <p:sp>
        <p:nvSpPr>
          <p:cNvPr name="Freeform 7" id="7"/>
          <p:cNvSpPr/>
          <p:nvPr/>
        </p:nvSpPr>
        <p:spPr>
          <a:xfrm flipH="false" flipV="false" rot="0">
            <a:off x="14556983" y="1254849"/>
            <a:ext cx="3731017" cy="4509302"/>
          </a:xfrm>
          <a:custGeom>
            <a:avLst/>
            <a:gdLst/>
            <a:ahLst/>
            <a:cxnLst/>
            <a:rect r="r" b="b" t="t" l="l"/>
            <a:pathLst>
              <a:path h="4509302" w="3731017">
                <a:moveTo>
                  <a:pt x="0" y="0"/>
                </a:moveTo>
                <a:lnTo>
                  <a:pt x="3731017" y="0"/>
                </a:lnTo>
                <a:lnTo>
                  <a:pt x="3731017" y="4509302"/>
                </a:lnTo>
                <a:lnTo>
                  <a:pt x="0" y="4509302"/>
                </a:lnTo>
                <a:lnTo>
                  <a:pt x="0" y="0"/>
                </a:lnTo>
                <a:close/>
              </a:path>
            </a:pathLst>
          </a:custGeom>
          <a:blipFill>
            <a:blip r:embed="rId7"/>
            <a:stretch>
              <a:fillRect l="0" t="0" r="0" b="0"/>
            </a:stretch>
          </a:blipFill>
        </p:spPr>
      </p:sp>
      <p:sp>
        <p:nvSpPr>
          <p:cNvPr name="TextBox 8" id="8"/>
          <p:cNvSpPr txBox="true"/>
          <p:nvPr/>
        </p:nvSpPr>
        <p:spPr>
          <a:xfrm rot="0">
            <a:off x="420171" y="336503"/>
            <a:ext cx="11328445" cy="918346"/>
          </a:xfrm>
          <a:prstGeom prst="rect">
            <a:avLst/>
          </a:prstGeom>
        </p:spPr>
        <p:txBody>
          <a:bodyPr anchor="t" rtlCol="false" tIns="0" lIns="0" bIns="0" rIns="0">
            <a:spAutoFit/>
          </a:bodyPr>
          <a:lstStyle/>
          <a:p>
            <a:pPr algn="l">
              <a:lnSpc>
                <a:spcPts val="7132"/>
              </a:lnSpc>
              <a:spcBef>
                <a:spcPct val="0"/>
              </a:spcBef>
            </a:pPr>
            <a:r>
              <a:rPr lang="en-US" sz="5094">
                <a:solidFill>
                  <a:srgbClr val="FFD72B"/>
                </a:solidFill>
                <a:latin typeface="Arcade Gamer"/>
                <a:ea typeface="Arcade Gamer"/>
                <a:cs typeface="Arcade Gamer"/>
                <a:sym typeface="Arcade Gamer"/>
              </a:rPr>
              <a:t>LA SOLUCIÓN PROPUESTA: </a:t>
            </a:r>
          </a:p>
        </p:txBody>
      </p:sp>
      <p:sp>
        <p:nvSpPr>
          <p:cNvPr name="TextBox 9" id="9"/>
          <p:cNvSpPr txBox="true"/>
          <p:nvPr/>
        </p:nvSpPr>
        <p:spPr>
          <a:xfrm rot="0">
            <a:off x="1028700" y="2331989"/>
            <a:ext cx="14174964" cy="791737"/>
          </a:xfrm>
          <a:prstGeom prst="rect">
            <a:avLst/>
          </a:prstGeom>
        </p:spPr>
        <p:txBody>
          <a:bodyPr anchor="t" rtlCol="false" tIns="0" lIns="0" bIns="0" rIns="0">
            <a:spAutoFit/>
          </a:bodyPr>
          <a:lstStyle/>
          <a:p>
            <a:pPr algn="l">
              <a:lnSpc>
                <a:spcPts val="3079"/>
              </a:lnSpc>
            </a:pPr>
            <a:r>
              <a:rPr lang="en-US" sz="2199">
                <a:solidFill>
                  <a:srgbClr val="E0E0E0"/>
                </a:solidFill>
                <a:latin typeface="Arcade Gamer"/>
                <a:ea typeface="Arcade Gamer"/>
                <a:cs typeface="Arcade Gamer"/>
                <a:sym typeface="Arcade Gamer"/>
              </a:rPr>
              <a:t>Nuestra respuesta es "Computación cuántica que se juega, no se lee"</a:t>
            </a:r>
          </a:p>
          <a:p>
            <a:pPr algn="l">
              <a:lnSpc>
                <a:spcPts val="3079"/>
              </a:lnSpc>
              <a:spcBef>
                <a:spcPct val="0"/>
              </a:spcBef>
            </a:pPr>
          </a:p>
        </p:txBody>
      </p:sp>
      <p:sp>
        <p:nvSpPr>
          <p:cNvPr name="TextBox 10" id="10"/>
          <p:cNvSpPr txBox="true"/>
          <p:nvPr/>
        </p:nvSpPr>
        <p:spPr>
          <a:xfrm rot="0">
            <a:off x="580491" y="8593374"/>
            <a:ext cx="10884634" cy="1127922"/>
          </a:xfrm>
          <a:prstGeom prst="rect">
            <a:avLst/>
          </a:prstGeom>
        </p:spPr>
        <p:txBody>
          <a:bodyPr anchor="t" rtlCol="false" tIns="0" lIns="0" bIns="0" rIns="0">
            <a:spAutoFit/>
          </a:bodyPr>
          <a:lstStyle/>
          <a:p>
            <a:pPr algn="l">
              <a:lnSpc>
                <a:spcPts val="2940"/>
              </a:lnSpc>
            </a:pPr>
            <a:r>
              <a:rPr lang="en-US" sz="2100">
                <a:solidFill>
                  <a:srgbClr val="FFDE59"/>
                </a:solidFill>
                <a:latin typeface="Arcade Gamer"/>
                <a:ea typeface="Arcade Gamer"/>
                <a:cs typeface="Arcade Gamer"/>
                <a:sym typeface="Arcade Gamer"/>
              </a:rPr>
              <a:t>QURA and friends es una plataforma web interactiva y gamificada que actúa como un traductor kinestésico. </a:t>
            </a:r>
          </a:p>
          <a:p>
            <a:pPr algn="l">
              <a:lnSpc>
                <a:spcPts val="2940"/>
              </a:lnSpc>
              <a:spcBef>
                <a:spcPct val="0"/>
              </a:spcBef>
            </a:pPr>
          </a:p>
        </p:txBody>
      </p:sp>
      <p:sp>
        <p:nvSpPr>
          <p:cNvPr name="TextBox 11" id="11"/>
          <p:cNvSpPr txBox="true"/>
          <p:nvPr/>
        </p:nvSpPr>
        <p:spPr>
          <a:xfrm rot="0">
            <a:off x="6931151" y="5598795"/>
            <a:ext cx="10863655" cy="1914795"/>
          </a:xfrm>
          <a:prstGeom prst="rect">
            <a:avLst/>
          </a:prstGeom>
        </p:spPr>
        <p:txBody>
          <a:bodyPr anchor="t" rtlCol="false" tIns="0" lIns="0" bIns="0" rIns="0">
            <a:spAutoFit/>
          </a:bodyPr>
          <a:lstStyle/>
          <a:p>
            <a:pPr algn="l">
              <a:lnSpc>
                <a:spcPts val="2940"/>
              </a:lnSpc>
            </a:pPr>
            <a:r>
              <a:rPr lang="en-US" sz="2100">
                <a:solidFill>
                  <a:srgbClr val="FFFFFF"/>
                </a:solidFill>
                <a:latin typeface="Arcade Gamer"/>
                <a:ea typeface="Arcade Gamer"/>
                <a:cs typeface="Arcade Gamer"/>
                <a:sym typeface="Arcade Gamer"/>
              </a:rPr>
              <a:t>Utilizando una estructura tipo "Mario Party" para un solo jugador, reemplazamos las fórmulas complejas por mecánicas de reflejos, coordinación y toma de decisiones tácticas. </a:t>
            </a:r>
          </a:p>
          <a:p>
            <a:pPr algn="l">
              <a:lnSpc>
                <a:spcPts val="3360"/>
              </a:lnSpc>
              <a:spcBef>
                <a:spcPct val="0"/>
              </a:spcBef>
            </a:pPr>
          </a:p>
        </p:txBody>
      </p:sp>
      <p:sp>
        <p:nvSpPr>
          <p:cNvPr name="TextBox 12" id="12"/>
          <p:cNvSpPr txBox="true"/>
          <p:nvPr/>
        </p:nvSpPr>
        <p:spPr>
          <a:xfrm rot="0">
            <a:off x="420171" y="3156369"/>
            <a:ext cx="11942808" cy="1870980"/>
          </a:xfrm>
          <a:prstGeom prst="rect">
            <a:avLst/>
          </a:prstGeom>
        </p:spPr>
        <p:txBody>
          <a:bodyPr anchor="t" rtlCol="false" tIns="0" lIns="0" bIns="0" rIns="0">
            <a:spAutoFit/>
          </a:bodyPr>
          <a:lstStyle/>
          <a:p>
            <a:pPr algn="l">
              <a:lnSpc>
                <a:spcPts val="2940"/>
              </a:lnSpc>
              <a:spcBef>
                <a:spcPct val="0"/>
              </a:spcBef>
            </a:pPr>
            <a:r>
              <a:rPr lang="en-US" sz="2100">
                <a:solidFill>
                  <a:srgbClr val="FFDE59"/>
                </a:solidFill>
                <a:latin typeface="Arcade Gamer"/>
                <a:ea typeface="Arcade Gamer"/>
                <a:cs typeface="Arcade Gamer"/>
                <a:sym typeface="Arcade Gamer"/>
              </a:rPr>
              <a:t>Al ubicar la experiencia en una interfaz inmersiva de escritorio, el usuario no siente que está en una clase de física; asume el rol de un operador que hackea un sistema, aprendiendo mediante el ensayo y error en ráfagas cortas que evitan la fatiga mental.</a:t>
            </a:r>
          </a:p>
        </p:txBody>
      </p:sp>
      <p:sp>
        <p:nvSpPr>
          <p:cNvPr name="TextBox 13" id="13"/>
          <p:cNvSpPr txBox="true"/>
          <p:nvPr/>
        </p:nvSpPr>
        <p:spPr>
          <a:xfrm rot="0">
            <a:off x="420171" y="1296146"/>
            <a:ext cx="8362528" cy="918346"/>
          </a:xfrm>
          <a:prstGeom prst="rect">
            <a:avLst/>
          </a:prstGeom>
        </p:spPr>
        <p:txBody>
          <a:bodyPr anchor="t" rtlCol="false" tIns="0" lIns="0" bIns="0" rIns="0">
            <a:spAutoFit/>
          </a:bodyPr>
          <a:lstStyle/>
          <a:p>
            <a:pPr algn="l">
              <a:lnSpc>
                <a:spcPts val="7132"/>
              </a:lnSpc>
              <a:spcBef>
                <a:spcPct val="0"/>
              </a:spcBef>
            </a:pPr>
            <a:r>
              <a:rPr lang="en-US" sz="5094">
                <a:gradFill>
                  <a:gsLst>
                    <a:gs pos="0">
                      <a:srgbClr val="F093FF">
                        <a:alpha val="100000"/>
                      </a:srgbClr>
                    </a:gs>
                    <a:gs pos="100000">
                      <a:srgbClr val="FDF1FF">
                        <a:alpha val="100000"/>
                      </a:srgbClr>
                    </a:gs>
                  </a:gsLst>
                  <a:lin ang="5400000"/>
                </a:gradFill>
                <a:latin typeface="Arcade Gamer"/>
                <a:ea typeface="Arcade Gamer"/>
                <a:cs typeface="Arcade Gamer"/>
                <a:sym typeface="Arcade Gamer"/>
              </a:rPr>
              <a:t> QURA AND FRIENDS</a:t>
            </a:r>
          </a:p>
        </p:txBody>
      </p:sp>
      <p:sp>
        <p:nvSpPr>
          <p:cNvPr name="TextBox 14" id="14"/>
          <p:cNvSpPr txBox="true"/>
          <p:nvPr/>
        </p:nvSpPr>
        <p:spPr>
          <a:xfrm rot="0">
            <a:off x="1592772" y="5377557"/>
            <a:ext cx="3799835" cy="2979447"/>
          </a:xfrm>
          <a:prstGeom prst="rect">
            <a:avLst/>
          </a:prstGeom>
        </p:spPr>
        <p:txBody>
          <a:bodyPr anchor="t" rtlCol="false" tIns="0" lIns="0" bIns="0" rIns="0">
            <a:spAutoFit/>
          </a:bodyPr>
          <a:lstStyle/>
          <a:p>
            <a:pPr algn="ctr">
              <a:lnSpc>
                <a:spcPts val="5872"/>
              </a:lnSpc>
            </a:pPr>
            <a:r>
              <a:rPr lang="en-US" sz="4194">
                <a:gradFill>
                  <a:gsLst>
                    <a:gs pos="0">
                      <a:srgbClr val="F093FF">
                        <a:alpha val="100000"/>
                      </a:srgbClr>
                    </a:gs>
                    <a:gs pos="100000">
                      <a:srgbClr val="FDF1FF">
                        <a:alpha val="100000"/>
                      </a:srgbClr>
                    </a:gs>
                  </a:gsLst>
                  <a:lin ang="5400000"/>
                </a:gradFill>
                <a:latin typeface="Arcade Gamer"/>
                <a:ea typeface="Arcade Gamer"/>
                <a:cs typeface="Arcade Gamer"/>
                <a:sym typeface="Arcade Gamer"/>
              </a:rPr>
              <a:t> QURA AND</a:t>
            </a:r>
          </a:p>
          <a:p>
            <a:pPr algn="ctr">
              <a:lnSpc>
                <a:spcPts val="5872"/>
              </a:lnSpc>
            </a:pPr>
          </a:p>
          <a:p>
            <a:pPr algn="ctr">
              <a:lnSpc>
                <a:spcPts val="5872"/>
              </a:lnSpc>
            </a:pPr>
          </a:p>
          <a:p>
            <a:pPr algn="ctr">
              <a:lnSpc>
                <a:spcPts val="5872"/>
              </a:lnSpc>
              <a:spcBef>
                <a:spcPct val="0"/>
              </a:spcBef>
            </a:pPr>
            <a:r>
              <a:rPr lang="en-US" sz="4194">
                <a:gradFill>
                  <a:gsLst>
                    <a:gs pos="0">
                      <a:srgbClr val="F093FF">
                        <a:alpha val="100000"/>
                      </a:srgbClr>
                    </a:gs>
                    <a:gs pos="100000">
                      <a:srgbClr val="FDF1FF">
                        <a:alpha val="100000"/>
                      </a:srgbClr>
                    </a:gs>
                  </a:gsLst>
                  <a:lin ang="5400000"/>
                </a:gradFill>
                <a:latin typeface="Arcade Gamer"/>
                <a:ea typeface="Arcade Gamer"/>
                <a:cs typeface="Arcade Gamer"/>
                <a:sym typeface="Arcade Gamer"/>
              </a:rPr>
              <a:t> FRIENDS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521935" y="479378"/>
            <a:ext cx="905659" cy="384100"/>
          </a:xfrm>
          <a:custGeom>
            <a:avLst/>
            <a:gdLst/>
            <a:ahLst/>
            <a:cxnLst/>
            <a:rect r="r" b="b" t="t" l="l"/>
            <a:pathLst>
              <a:path h="384100" w="905659">
                <a:moveTo>
                  <a:pt x="0" y="0"/>
                </a:moveTo>
                <a:lnTo>
                  <a:pt x="905659" y="0"/>
                </a:lnTo>
                <a:lnTo>
                  <a:pt x="905659"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15431570" y="479378"/>
            <a:ext cx="905659" cy="384100"/>
          </a:xfrm>
          <a:custGeom>
            <a:avLst/>
            <a:gdLst/>
            <a:ahLst/>
            <a:cxnLst/>
            <a:rect r="r" b="b" t="t" l="l"/>
            <a:pathLst>
              <a:path h="384100" w="905659">
                <a:moveTo>
                  <a:pt x="0" y="0"/>
                </a:moveTo>
                <a:lnTo>
                  <a:pt x="905660" y="0"/>
                </a:lnTo>
                <a:lnTo>
                  <a:pt x="905660"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4" id="4"/>
          <p:cNvSpPr/>
          <p:nvPr/>
        </p:nvSpPr>
        <p:spPr>
          <a:xfrm flipH="false" flipV="false" rot="0">
            <a:off x="8513570" y="2698443"/>
            <a:ext cx="9526796" cy="4977751"/>
          </a:xfrm>
          <a:custGeom>
            <a:avLst/>
            <a:gdLst/>
            <a:ahLst/>
            <a:cxnLst/>
            <a:rect r="r" b="b" t="t" l="l"/>
            <a:pathLst>
              <a:path h="4977751" w="9526796">
                <a:moveTo>
                  <a:pt x="0" y="0"/>
                </a:moveTo>
                <a:lnTo>
                  <a:pt x="9526796" y="0"/>
                </a:lnTo>
                <a:lnTo>
                  <a:pt x="9526796" y="4977751"/>
                </a:lnTo>
                <a:lnTo>
                  <a:pt x="0" y="4977751"/>
                </a:lnTo>
                <a:lnTo>
                  <a:pt x="0" y="0"/>
                </a:lnTo>
                <a:close/>
              </a:path>
            </a:pathLst>
          </a:custGeom>
          <a:blipFill>
            <a:blip r:embed="rId4"/>
            <a:stretch>
              <a:fillRect l="0" t="0" r="0" b="0"/>
            </a:stretch>
          </a:blipFill>
        </p:spPr>
      </p:sp>
      <p:sp>
        <p:nvSpPr>
          <p:cNvPr name="TextBox 5" id="5"/>
          <p:cNvSpPr txBox="true"/>
          <p:nvPr/>
        </p:nvSpPr>
        <p:spPr>
          <a:xfrm rot="0">
            <a:off x="393451" y="336503"/>
            <a:ext cx="7908288" cy="1823221"/>
          </a:xfrm>
          <a:prstGeom prst="rect">
            <a:avLst/>
          </a:prstGeom>
        </p:spPr>
        <p:txBody>
          <a:bodyPr anchor="t" rtlCol="false" tIns="0" lIns="0" bIns="0" rIns="0">
            <a:spAutoFit/>
          </a:bodyPr>
          <a:lstStyle/>
          <a:p>
            <a:pPr algn="l">
              <a:lnSpc>
                <a:spcPts val="7132"/>
              </a:lnSpc>
              <a:spcBef>
                <a:spcPct val="0"/>
              </a:spcBef>
            </a:pPr>
            <a:r>
              <a:rPr lang="en-US" sz="5094">
                <a:solidFill>
                  <a:srgbClr val="FFD72B"/>
                </a:solidFill>
                <a:latin typeface="Arcade Gamer"/>
                <a:ea typeface="Arcade Gamer"/>
                <a:cs typeface="Arcade Gamer"/>
                <a:sym typeface="Arcade Gamer"/>
              </a:rPr>
              <a:t>DINÁMICA DE LOS MINIJUEGOS</a:t>
            </a:r>
          </a:p>
        </p:txBody>
      </p:sp>
      <p:sp>
        <p:nvSpPr>
          <p:cNvPr name="TextBox 6" id="6"/>
          <p:cNvSpPr txBox="true"/>
          <p:nvPr/>
        </p:nvSpPr>
        <p:spPr>
          <a:xfrm rot="0">
            <a:off x="393451" y="2346851"/>
            <a:ext cx="9725448" cy="6911449"/>
          </a:xfrm>
          <a:prstGeom prst="rect">
            <a:avLst/>
          </a:prstGeom>
        </p:spPr>
        <p:txBody>
          <a:bodyPr anchor="t" rtlCol="false" tIns="0" lIns="0" bIns="0" rIns="0">
            <a:spAutoFit/>
          </a:bodyPr>
          <a:lstStyle/>
          <a:p>
            <a:pPr algn="ctr">
              <a:lnSpc>
                <a:spcPts val="7132"/>
              </a:lnSpc>
            </a:pPr>
            <a:r>
              <a:rPr lang="en-US" sz="5094">
                <a:gradFill>
                  <a:gsLst>
                    <a:gs pos="0">
                      <a:srgbClr val="F093FF">
                        <a:alpha val="100000"/>
                      </a:srgbClr>
                    </a:gs>
                    <a:gs pos="100000">
                      <a:srgbClr val="FDF1FF">
                        <a:alpha val="100000"/>
                      </a:srgbClr>
                    </a:gs>
                  </a:gsLst>
                  <a:lin ang="5400000"/>
                </a:gradFill>
                <a:latin typeface="Arcade Gamer"/>
                <a:ea typeface="Arcade Gamer"/>
                <a:cs typeface="Arcade Gamer"/>
                <a:sym typeface="Arcade Gamer"/>
              </a:rPr>
              <a:t>LA CARRERA DEL GATO</a:t>
            </a:r>
          </a:p>
          <a:p>
            <a:pPr algn="l" marL="646552" indent="-323276" lvl="1">
              <a:lnSpc>
                <a:spcPts val="4192"/>
              </a:lnSpc>
              <a:spcBef>
                <a:spcPct val="0"/>
              </a:spcBef>
              <a:buFont typeface="Arial"/>
              <a:buChar char="•"/>
            </a:pPr>
            <a:r>
              <a:rPr lang="en-US" sz="2994">
                <a:solidFill>
                  <a:srgbClr val="FFFFFF"/>
                </a:solidFill>
                <a:latin typeface="Arimo"/>
                <a:ea typeface="Arimo"/>
                <a:cs typeface="Arimo"/>
                <a:sym typeface="Arimo"/>
              </a:rPr>
              <a:t>El minijuego utiliza un formato de endless-runner (estilo Subway Surfers) para ofrecer una experiencia competitiva, adictiva y sin fricción de entrada.</a:t>
            </a:r>
          </a:p>
          <a:p>
            <a:pPr algn="l">
              <a:lnSpc>
                <a:spcPts val="4192"/>
              </a:lnSpc>
              <a:spcBef>
                <a:spcPct val="0"/>
              </a:spcBef>
            </a:pPr>
          </a:p>
          <a:p>
            <a:pPr algn="l">
              <a:lnSpc>
                <a:spcPts val="4192"/>
              </a:lnSpc>
              <a:spcBef>
                <a:spcPct val="0"/>
              </a:spcBef>
            </a:pPr>
          </a:p>
          <a:p>
            <a:pPr algn="l" marL="646552" indent="-323276" lvl="1">
              <a:lnSpc>
                <a:spcPts val="4192"/>
              </a:lnSpc>
              <a:spcBef>
                <a:spcPct val="0"/>
              </a:spcBef>
              <a:buFont typeface="Arial"/>
              <a:buChar char="•"/>
            </a:pPr>
            <a:r>
              <a:rPr lang="en-US" sz="2994">
                <a:solidFill>
                  <a:srgbClr val="FFFFFF"/>
                </a:solidFill>
                <a:latin typeface="Arimo"/>
                <a:ea typeface="Arimo"/>
                <a:cs typeface="Arimo"/>
                <a:sym typeface="Arimo"/>
              </a:rPr>
              <a:t>La acción central requiere que el jugador mantenga presionado un control para activar la superposición, lo que divide a su personaje en réplicas fantasma que ocupan tres carriles simultáneamente penalización de</a:t>
            </a:r>
            <a:r>
              <a:rPr lang="en-US" sz="2994">
                <a:solidFill>
                  <a:srgbClr val="FFFFFF"/>
                </a:solidFill>
                <a:latin typeface="Arimo"/>
                <a:ea typeface="Arimo"/>
                <a:cs typeface="Arimo"/>
                <a:sym typeface="Arimo"/>
              </a:rPr>
              <a:t> aturdimiento.</a:t>
            </a:r>
          </a:p>
          <a:p>
            <a:pPr algn="ctr">
              <a:lnSpc>
                <a:spcPts val="5872"/>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521935" y="479378"/>
            <a:ext cx="905659" cy="384100"/>
          </a:xfrm>
          <a:custGeom>
            <a:avLst/>
            <a:gdLst/>
            <a:ahLst/>
            <a:cxnLst/>
            <a:rect r="r" b="b" t="t" l="l"/>
            <a:pathLst>
              <a:path h="384100" w="905659">
                <a:moveTo>
                  <a:pt x="0" y="0"/>
                </a:moveTo>
                <a:lnTo>
                  <a:pt x="905659" y="0"/>
                </a:lnTo>
                <a:lnTo>
                  <a:pt x="905659"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15431570" y="479378"/>
            <a:ext cx="905659" cy="384100"/>
          </a:xfrm>
          <a:custGeom>
            <a:avLst/>
            <a:gdLst/>
            <a:ahLst/>
            <a:cxnLst/>
            <a:rect r="r" b="b" t="t" l="l"/>
            <a:pathLst>
              <a:path h="384100" w="905659">
                <a:moveTo>
                  <a:pt x="0" y="0"/>
                </a:moveTo>
                <a:lnTo>
                  <a:pt x="905660" y="0"/>
                </a:lnTo>
                <a:lnTo>
                  <a:pt x="905660"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4" id="4"/>
          <p:cNvSpPr/>
          <p:nvPr/>
        </p:nvSpPr>
        <p:spPr>
          <a:xfrm flipH="false" flipV="false" rot="0">
            <a:off x="5467360" y="2168155"/>
            <a:ext cx="12820640" cy="6578591"/>
          </a:xfrm>
          <a:custGeom>
            <a:avLst/>
            <a:gdLst/>
            <a:ahLst/>
            <a:cxnLst/>
            <a:rect r="r" b="b" t="t" l="l"/>
            <a:pathLst>
              <a:path h="6578591" w="12820640">
                <a:moveTo>
                  <a:pt x="0" y="0"/>
                </a:moveTo>
                <a:lnTo>
                  <a:pt x="12820640" y="0"/>
                </a:lnTo>
                <a:lnTo>
                  <a:pt x="12820640" y="6578591"/>
                </a:lnTo>
                <a:lnTo>
                  <a:pt x="0" y="6578591"/>
                </a:lnTo>
                <a:lnTo>
                  <a:pt x="0" y="0"/>
                </a:lnTo>
                <a:close/>
              </a:path>
            </a:pathLst>
          </a:custGeom>
          <a:blipFill>
            <a:blip r:embed="rId4"/>
            <a:stretch>
              <a:fillRect l="0" t="0" r="0" b="0"/>
            </a:stretch>
          </a:blipFill>
        </p:spPr>
      </p:sp>
      <p:sp>
        <p:nvSpPr>
          <p:cNvPr name="TextBox 5" id="5"/>
          <p:cNvSpPr txBox="true"/>
          <p:nvPr/>
        </p:nvSpPr>
        <p:spPr>
          <a:xfrm rot="0">
            <a:off x="420171" y="528553"/>
            <a:ext cx="7908288" cy="1823221"/>
          </a:xfrm>
          <a:prstGeom prst="rect">
            <a:avLst/>
          </a:prstGeom>
        </p:spPr>
        <p:txBody>
          <a:bodyPr anchor="t" rtlCol="false" tIns="0" lIns="0" bIns="0" rIns="0">
            <a:spAutoFit/>
          </a:bodyPr>
          <a:lstStyle/>
          <a:p>
            <a:pPr algn="l">
              <a:lnSpc>
                <a:spcPts val="7132"/>
              </a:lnSpc>
              <a:spcBef>
                <a:spcPct val="0"/>
              </a:spcBef>
            </a:pPr>
            <a:r>
              <a:rPr lang="en-US" sz="5094">
                <a:solidFill>
                  <a:srgbClr val="FFD72B"/>
                </a:solidFill>
                <a:latin typeface="Arcade Gamer"/>
                <a:ea typeface="Arcade Gamer"/>
                <a:cs typeface="Arcade Gamer"/>
                <a:sym typeface="Arcade Gamer"/>
              </a:rPr>
              <a:t>DINÁMICA DE LOS MINIJUEGOS</a:t>
            </a:r>
          </a:p>
        </p:txBody>
      </p:sp>
      <p:sp>
        <p:nvSpPr>
          <p:cNvPr name="TextBox 6" id="6"/>
          <p:cNvSpPr txBox="true"/>
          <p:nvPr/>
        </p:nvSpPr>
        <p:spPr>
          <a:xfrm rot="0">
            <a:off x="240480" y="2624710"/>
            <a:ext cx="10565928" cy="6633590"/>
          </a:xfrm>
          <a:prstGeom prst="rect">
            <a:avLst/>
          </a:prstGeom>
        </p:spPr>
        <p:txBody>
          <a:bodyPr anchor="t" rtlCol="false" tIns="0" lIns="0" bIns="0" rIns="0">
            <a:spAutoFit/>
          </a:bodyPr>
          <a:lstStyle/>
          <a:p>
            <a:pPr algn="l" marL="776089" indent="-388044" lvl="1">
              <a:lnSpc>
                <a:spcPts val="5032"/>
              </a:lnSpc>
              <a:spcBef>
                <a:spcPct val="0"/>
              </a:spcBef>
              <a:buFont typeface="Arial"/>
              <a:buChar char="•"/>
            </a:pPr>
            <a:r>
              <a:rPr lang="en-US" sz="3594">
                <a:solidFill>
                  <a:srgbClr val="FFFFFF"/>
                </a:solidFill>
                <a:latin typeface="Arimo"/>
                <a:ea typeface="Arimo"/>
                <a:cs typeface="Arimo"/>
                <a:sym typeface="Arimo"/>
              </a:rPr>
              <a:t>Al ocupar todos los carriles, el jugador puede atravesar muros rojos i</a:t>
            </a:r>
            <a:r>
              <a:rPr lang="en-US" sz="3594">
                <a:solidFill>
                  <a:srgbClr val="FFFFFF"/>
                </a:solidFill>
                <a:latin typeface="Arimo"/>
                <a:ea typeface="Arimo"/>
                <a:cs typeface="Arimo"/>
                <a:sym typeface="Arimo"/>
              </a:rPr>
              <a:t>leso, pero esta acción drena una barra de coherencia en aproximadamente dos segundos.</a:t>
            </a:r>
          </a:p>
          <a:p>
            <a:pPr algn="l">
              <a:lnSpc>
                <a:spcPts val="5032"/>
              </a:lnSpc>
              <a:spcBef>
                <a:spcPct val="0"/>
              </a:spcBef>
            </a:pPr>
          </a:p>
          <a:p>
            <a:pPr algn="l">
              <a:lnSpc>
                <a:spcPts val="5032"/>
              </a:lnSpc>
              <a:spcBef>
                <a:spcPct val="0"/>
              </a:spcBef>
            </a:pPr>
          </a:p>
          <a:p>
            <a:pPr algn="l" marL="776089" indent="-388044" lvl="1">
              <a:lnSpc>
                <a:spcPts val="5032"/>
              </a:lnSpc>
              <a:spcBef>
                <a:spcPct val="0"/>
              </a:spcBef>
              <a:buFont typeface="Arial"/>
              <a:buChar char="•"/>
            </a:pPr>
            <a:r>
              <a:rPr lang="en-US" sz="3594">
                <a:solidFill>
                  <a:srgbClr val="FFFFFF"/>
                </a:solidFill>
                <a:latin typeface="Arimo"/>
                <a:ea typeface="Arimo"/>
                <a:cs typeface="Arimo"/>
                <a:sym typeface="Arimo"/>
              </a:rPr>
              <a:t>Si la barra se vacía o el jugador no sostiene el estado frente a un</a:t>
            </a:r>
            <a:r>
              <a:rPr lang="en-US" sz="3594">
                <a:solidFill>
                  <a:srgbClr val="FFFFFF"/>
                </a:solidFill>
                <a:latin typeface="Arimo"/>
                <a:ea typeface="Arimo"/>
                <a:cs typeface="Arimo"/>
                <a:sym typeface="Arimo"/>
              </a:rPr>
              <a:t> obstáculo, el personaje choca contra un muro específico y se aturde</a:t>
            </a:r>
            <a:r>
              <a:rPr lang="en-US" sz="3594">
                <a:solidFill>
                  <a:srgbClr val="FFD72B"/>
                </a:solidFill>
                <a:latin typeface="Arimo"/>
                <a:ea typeface="Arimo"/>
                <a:cs typeface="Arimo"/>
                <a:sym typeface="Arimo"/>
              </a:rPr>
              <a:t>.</a:t>
            </a:r>
          </a:p>
          <a:p>
            <a:pPr algn="l">
              <a:lnSpc>
                <a:spcPts val="7132"/>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521935" y="479378"/>
            <a:ext cx="905659" cy="384100"/>
          </a:xfrm>
          <a:custGeom>
            <a:avLst/>
            <a:gdLst/>
            <a:ahLst/>
            <a:cxnLst/>
            <a:rect r="r" b="b" t="t" l="l"/>
            <a:pathLst>
              <a:path h="384100" w="905659">
                <a:moveTo>
                  <a:pt x="0" y="0"/>
                </a:moveTo>
                <a:lnTo>
                  <a:pt x="905659" y="0"/>
                </a:lnTo>
                <a:lnTo>
                  <a:pt x="905659"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15431570" y="479378"/>
            <a:ext cx="905659" cy="384100"/>
          </a:xfrm>
          <a:custGeom>
            <a:avLst/>
            <a:gdLst/>
            <a:ahLst/>
            <a:cxnLst/>
            <a:rect r="r" b="b" t="t" l="l"/>
            <a:pathLst>
              <a:path h="384100" w="905659">
                <a:moveTo>
                  <a:pt x="0" y="0"/>
                </a:moveTo>
                <a:lnTo>
                  <a:pt x="905660" y="0"/>
                </a:lnTo>
                <a:lnTo>
                  <a:pt x="905660"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TextBox 4" id="4"/>
          <p:cNvSpPr txBox="true"/>
          <p:nvPr/>
        </p:nvSpPr>
        <p:spPr>
          <a:xfrm rot="0">
            <a:off x="420171" y="528553"/>
            <a:ext cx="7908288" cy="1823221"/>
          </a:xfrm>
          <a:prstGeom prst="rect">
            <a:avLst/>
          </a:prstGeom>
        </p:spPr>
        <p:txBody>
          <a:bodyPr anchor="t" rtlCol="false" tIns="0" lIns="0" bIns="0" rIns="0">
            <a:spAutoFit/>
          </a:bodyPr>
          <a:lstStyle/>
          <a:p>
            <a:pPr algn="l">
              <a:lnSpc>
                <a:spcPts val="7132"/>
              </a:lnSpc>
              <a:spcBef>
                <a:spcPct val="0"/>
              </a:spcBef>
            </a:pPr>
            <a:r>
              <a:rPr lang="en-US" sz="5094">
                <a:solidFill>
                  <a:srgbClr val="FFD72B"/>
                </a:solidFill>
                <a:latin typeface="Arcade Gamer"/>
                <a:ea typeface="Arcade Gamer"/>
                <a:cs typeface="Arcade Gamer"/>
                <a:sym typeface="Arcade Gamer"/>
              </a:rPr>
              <a:t>DINÁMICA DE LOS MINIJUEGOS</a:t>
            </a:r>
          </a:p>
        </p:txBody>
      </p:sp>
      <p:sp>
        <p:nvSpPr>
          <p:cNvPr name="TextBox 5" id="5"/>
          <p:cNvSpPr txBox="true"/>
          <p:nvPr/>
        </p:nvSpPr>
        <p:spPr>
          <a:xfrm rot="0">
            <a:off x="0" y="2774729"/>
            <a:ext cx="10886567" cy="7271791"/>
          </a:xfrm>
          <a:prstGeom prst="rect">
            <a:avLst/>
          </a:prstGeom>
        </p:spPr>
        <p:txBody>
          <a:bodyPr anchor="t" rtlCol="false" tIns="0" lIns="0" bIns="0" rIns="0">
            <a:spAutoFit/>
          </a:bodyPr>
          <a:lstStyle/>
          <a:p>
            <a:pPr algn="l" marL="776089" indent="-388044" lvl="1">
              <a:lnSpc>
                <a:spcPts val="5032"/>
              </a:lnSpc>
              <a:buFont typeface="Arial"/>
              <a:buChar char="•"/>
            </a:pPr>
            <a:r>
              <a:rPr lang="en-US" sz="3594">
                <a:solidFill>
                  <a:srgbClr val="FFFFFF"/>
                </a:solidFill>
                <a:latin typeface="Arimo"/>
                <a:ea typeface="Arimo"/>
                <a:cs typeface="Arimo"/>
                <a:sym typeface="Arimo"/>
              </a:rPr>
              <a:t>El nivel de "capacidad de superposición" disponib</a:t>
            </a:r>
            <a:r>
              <a:rPr lang="en-US" sz="3594">
                <a:solidFill>
                  <a:srgbClr val="FFFFFF"/>
                </a:solidFill>
                <a:latin typeface="Arimo"/>
                <a:ea typeface="Arimo"/>
                <a:cs typeface="Arimo"/>
                <a:sym typeface="Arimo"/>
              </a:rPr>
              <a:t>le se muestra visualmente mediante el llenado de un anillo de color bajo cada personaje.</a:t>
            </a:r>
          </a:p>
          <a:p>
            <a:pPr algn="l">
              <a:lnSpc>
                <a:spcPts val="5032"/>
              </a:lnSpc>
              <a:spcBef>
                <a:spcPct val="0"/>
              </a:spcBef>
            </a:pPr>
          </a:p>
          <a:p>
            <a:pPr algn="l">
              <a:lnSpc>
                <a:spcPts val="5032"/>
              </a:lnSpc>
              <a:spcBef>
                <a:spcPct val="0"/>
              </a:spcBef>
            </a:pPr>
          </a:p>
          <a:p>
            <a:pPr algn="l" marL="776089" indent="-388044" lvl="1">
              <a:lnSpc>
                <a:spcPts val="5032"/>
              </a:lnSpc>
              <a:buFont typeface="Arial"/>
              <a:buChar char="•"/>
            </a:pPr>
            <a:r>
              <a:rPr lang="en-US" sz="3594">
                <a:solidFill>
                  <a:srgbClr val="FFFFFF"/>
                </a:solidFill>
                <a:latin typeface="Arimo"/>
                <a:ea typeface="Arimo"/>
                <a:cs typeface="Arimo"/>
                <a:sym typeface="Arimo"/>
              </a:rPr>
              <a:t>Si dos jugadores chocan al mismo tiempo, se interrumpe la carrera con un duelo de preguntas de Verdadero/Falso </a:t>
            </a:r>
            <a:r>
              <a:rPr lang="en-US" sz="3594">
                <a:solidFill>
                  <a:srgbClr val="FFFFFF"/>
                </a:solidFill>
                <a:latin typeface="Arimo"/>
                <a:ea typeface="Arimo"/>
                <a:cs typeface="Arimo"/>
                <a:sym typeface="Arimo"/>
              </a:rPr>
              <a:t>basadas en el temario oficial qBronze; el que falla recibe la penalización de aturdimiento.</a:t>
            </a:r>
          </a:p>
          <a:p>
            <a:pPr algn="l">
              <a:lnSpc>
                <a:spcPts val="713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521935" y="479378"/>
            <a:ext cx="905659" cy="384100"/>
          </a:xfrm>
          <a:custGeom>
            <a:avLst/>
            <a:gdLst/>
            <a:ahLst/>
            <a:cxnLst/>
            <a:rect r="r" b="b" t="t" l="l"/>
            <a:pathLst>
              <a:path h="384100" w="905659">
                <a:moveTo>
                  <a:pt x="0" y="0"/>
                </a:moveTo>
                <a:lnTo>
                  <a:pt x="905659" y="0"/>
                </a:lnTo>
                <a:lnTo>
                  <a:pt x="905659"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15431570" y="479378"/>
            <a:ext cx="905659" cy="384100"/>
          </a:xfrm>
          <a:custGeom>
            <a:avLst/>
            <a:gdLst/>
            <a:ahLst/>
            <a:cxnLst/>
            <a:rect r="r" b="b" t="t" l="l"/>
            <a:pathLst>
              <a:path h="384100" w="905659">
                <a:moveTo>
                  <a:pt x="0" y="0"/>
                </a:moveTo>
                <a:lnTo>
                  <a:pt x="905660" y="0"/>
                </a:lnTo>
                <a:lnTo>
                  <a:pt x="905660"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TextBox 4" id="4"/>
          <p:cNvSpPr txBox="true"/>
          <p:nvPr/>
        </p:nvSpPr>
        <p:spPr>
          <a:xfrm rot="0">
            <a:off x="301986" y="336503"/>
            <a:ext cx="8385477" cy="1823221"/>
          </a:xfrm>
          <a:prstGeom prst="rect">
            <a:avLst/>
          </a:prstGeom>
        </p:spPr>
        <p:txBody>
          <a:bodyPr anchor="t" rtlCol="false" tIns="0" lIns="0" bIns="0" rIns="0">
            <a:spAutoFit/>
          </a:bodyPr>
          <a:lstStyle/>
          <a:p>
            <a:pPr algn="ctr">
              <a:lnSpc>
                <a:spcPts val="7132"/>
              </a:lnSpc>
              <a:spcBef>
                <a:spcPct val="0"/>
              </a:spcBef>
            </a:pPr>
            <a:r>
              <a:rPr lang="en-US" sz="5094">
                <a:solidFill>
                  <a:srgbClr val="FFD72B"/>
                </a:solidFill>
                <a:latin typeface="Arcade Gamer"/>
                <a:ea typeface="Arcade Gamer"/>
                <a:cs typeface="Arcade Gamer"/>
                <a:sym typeface="Arcade Gamer"/>
              </a:rPr>
              <a:t>LOGICA DETRAS DE LOS MINIJUEGOS</a:t>
            </a:r>
          </a:p>
        </p:txBody>
      </p:sp>
      <p:sp>
        <p:nvSpPr>
          <p:cNvPr name="TextBox 5" id="5"/>
          <p:cNvSpPr txBox="true"/>
          <p:nvPr/>
        </p:nvSpPr>
        <p:spPr>
          <a:xfrm rot="0">
            <a:off x="301986" y="2621327"/>
            <a:ext cx="5476989" cy="3543516"/>
          </a:xfrm>
          <a:prstGeom prst="rect">
            <a:avLst/>
          </a:prstGeom>
        </p:spPr>
        <p:txBody>
          <a:bodyPr anchor="t" rtlCol="false" tIns="0" lIns="0" bIns="0" rIns="0">
            <a:spAutoFit/>
          </a:bodyPr>
          <a:lstStyle/>
          <a:p>
            <a:pPr algn="l" marL="690882" indent="-345441" lvl="1">
              <a:lnSpc>
                <a:spcPts val="4480"/>
              </a:lnSpc>
              <a:spcBef>
                <a:spcPct val="0"/>
              </a:spcBef>
              <a:buFont typeface="Arial"/>
              <a:buChar char="•"/>
            </a:pPr>
            <a:r>
              <a:rPr lang="en-US" sz="3200">
                <a:solidFill>
                  <a:srgbClr val="FFD72B"/>
                </a:solidFill>
                <a:latin typeface="Arimo"/>
                <a:ea typeface="Arimo"/>
                <a:cs typeface="Arimo"/>
                <a:sym typeface="Arimo"/>
              </a:rPr>
              <a:t>Superposición aplicada:</a:t>
            </a:r>
            <a:r>
              <a:rPr lang="en-US" sz="3200">
                <a:solidFill>
                  <a:srgbClr val="FFD72B"/>
                </a:solidFill>
                <a:latin typeface="Arimo"/>
                <a:ea typeface="Arimo"/>
                <a:cs typeface="Arimo"/>
                <a:sym typeface="Arimo"/>
              </a:rPr>
              <a:t> </a:t>
            </a:r>
          </a:p>
          <a:p>
            <a:pPr algn="l">
              <a:lnSpc>
                <a:spcPts val="3920"/>
              </a:lnSpc>
              <a:spcBef>
                <a:spcPct val="0"/>
              </a:spcBef>
            </a:pPr>
            <a:r>
              <a:rPr lang="en-US" sz="2800">
                <a:solidFill>
                  <a:srgbClr val="FFFFFF"/>
                </a:solidFill>
                <a:latin typeface="Arimo"/>
                <a:ea typeface="Arimo"/>
                <a:cs typeface="Arimo"/>
                <a:sym typeface="Arimo"/>
              </a:rPr>
              <a:t>El escudo que permite ocupar todos los carriles a la vez es una representación directa de un qubit, el cual existe como una combinación de múltiples estados hasta que ocurre una medición.</a:t>
            </a:r>
          </a:p>
        </p:txBody>
      </p:sp>
      <p:sp>
        <p:nvSpPr>
          <p:cNvPr name="TextBox 6" id="6"/>
          <p:cNvSpPr txBox="true"/>
          <p:nvPr/>
        </p:nvSpPr>
        <p:spPr>
          <a:xfrm rot="0">
            <a:off x="6200171" y="4350222"/>
            <a:ext cx="5887658" cy="4348156"/>
          </a:xfrm>
          <a:prstGeom prst="rect">
            <a:avLst/>
          </a:prstGeom>
        </p:spPr>
        <p:txBody>
          <a:bodyPr anchor="t" rtlCol="false" tIns="0" lIns="0" bIns="0" rIns="0">
            <a:spAutoFit/>
          </a:bodyPr>
          <a:lstStyle/>
          <a:p>
            <a:pPr algn="l" marL="690882" indent="-345441" lvl="1">
              <a:lnSpc>
                <a:spcPts val="4480"/>
              </a:lnSpc>
              <a:buFont typeface="Arial"/>
              <a:buChar char="•"/>
            </a:pPr>
            <a:r>
              <a:rPr lang="en-US" sz="3200">
                <a:solidFill>
                  <a:srgbClr val="FFD72B"/>
                </a:solidFill>
                <a:latin typeface="Arimo"/>
                <a:ea typeface="Arimo"/>
                <a:cs typeface="Arimo"/>
                <a:sym typeface="Arimo"/>
              </a:rPr>
              <a:t>Decoherencia: </a:t>
            </a:r>
          </a:p>
          <a:p>
            <a:pPr algn="l">
              <a:lnSpc>
                <a:spcPts val="3920"/>
              </a:lnSpc>
              <a:spcBef>
                <a:spcPct val="0"/>
              </a:spcBef>
            </a:pPr>
            <a:r>
              <a:rPr lang="en-US" sz="2800">
                <a:solidFill>
                  <a:srgbClr val="FFFFFF"/>
                </a:solidFill>
                <a:latin typeface="Arimo"/>
                <a:ea typeface="Arimo"/>
                <a:cs typeface="Arimo"/>
                <a:sym typeface="Arimo"/>
              </a:rPr>
              <a:t>El límite de dos segundos de la barra de energía demuestra que mantener un estado en superposición es frágil y costoso, simulando cómo el entorno destruye los estados cuánticos reales.</a:t>
            </a:r>
          </a:p>
          <a:p>
            <a:pPr algn="l">
              <a:lnSpc>
                <a:spcPts val="6572"/>
              </a:lnSpc>
              <a:spcBef>
                <a:spcPct val="0"/>
              </a:spcBef>
            </a:pPr>
          </a:p>
        </p:txBody>
      </p:sp>
      <p:sp>
        <p:nvSpPr>
          <p:cNvPr name="TextBox 7" id="7"/>
          <p:cNvSpPr txBox="true"/>
          <p:nvPr/>
        </p:nvSpPr>
        <p:spPr>
          <a:xfrm rot="0">
            <a:off x="12487741" y="2621327"/>
            <a:ext cx="5887658" cy="4348156"/>
          </a:xfrm>
          <a:prstGeom prst="rect">
            <a:avLst/>
          </a:prstGeom>
        </p:spPr>
        <p:txBody>
          <a:bodyPr anchor="t" rtlCol="false" tIns="0" lIns="0" bIns="0" rIns="0">
            <a:spAutoFit/>
          </a:bodyPr>
          <a:lstStyle/>
          <a:p>
            <a:pPr algn="l" marL="690882" indent="-345441" lvl="1">
              <a:lnSpc>
                <a:spcPts val="4480"/>
              </a:lnSpc>
              <a:buFont typeface="Arial"/>
              <a:buChar char="•"/>
            </a:pPr>
            <a:r>
              <a:rPr lang="en-US" sz="3200">
                <a:solidFill>
                  <a:srgbClr val="FFD72B"/>
                </a:solidFill>
                <a:latin typeface="Arimo"/>
                <a:ea typeface="Arimo"/>
                <a:cs typeface="Arimo"/>
                <a:sym typeface="Arimo"/>
              </a:rPr>
              <a:t>Colapso del estado: </a:t>
            </a:r>
          </a:p>
          <a:p>
            <a:pPr algn="l">
              <a:lnSpc>
                <a:spcPts val="3920"/>
              </a:lnSpc>
              <a:spcBef>
                <a:spcPct val="0"/>
              </a:spcBef>
            </a:pPr>
            <a:r>
              <a:rPr lang="en-US" sz="2800">
                <a:solidFill>
                  <a:srgbClr val="FFFFFF"/>
                </a:solidFill>
                <a:latin typeface="Arimo"/>
                <a:ea typeface="Arimo"/>
                <a:cs typeface="Arimo"/>
                <a:sym typeface="Arimo"/>
              </a:rPr>
              <a:t>El choque físico contra un obstáculo actúa como la "medición" del sistema; penaliza al jugador forzando a la superposición a colapsar en un</a:t>
            </a:r>
            <a:r>
              <a:rPr lang="en-US" sz="2800">
                <a:solidFill>
                  <a:srgbClr val="FFFFFF"/>
                </a:solidFill>
                <a:latin typeface="Arimo"/>
                <a:ea typeface="Arimo"/>
                <a:cs typeface="Arimo"/>
                <a:sym typeface="Arimo"/>
              </a:rPr>
              <a:t> único carril o resultado definido.</a:t>
            </a:r>
          </a:p>
          <a:p>
            <a:pPr algn="l">
              <a:lnSpc>
                <a:spcPts val="6572"/>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6521935" y="479378"/>
            <a:ext cx="905659" cy="384100"/>
          </a:xfrm>
          <a:custGeom>
            <a:avLst/>
            <a:gdLst/>
            <a:ahLst/>
            <a:cxnLst/>
            <a:rect r="r" b="b" t="t" l="l"/>
            <a:pathLst>
              <a:path h="384100" w="905659">
                <a:moveTo>
                  <a:pt x="0" y="0"/>
                </a:moveTo>
                <a:lnTo>
                  <a:pt x="905659" y="0"/>
                </a:lnTo>
                <a:lnTo>
                  <a:pt x="905659"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15431570" y="479378"/>
            <a:ext cx="905659" cy="384100"/>
          </a:xfrm>
          <a:custGeom>
            <a:avLst/>
            <a:gdLst/>
            <a:ahLst/>
            <a:cxnLst/>
            <a:rect r="r" b="b" t="t" l="l"/>
            <a:pathLst>
              <a:path h="384100" w="905659">
                <a:moveTo>
                  <a:pt x="0" y="0"/>
                </a:moveTo>
                <a:lnTo>
                  <a:pt x="905660" y="0"/>
                </a:lnTo>
                <a:lnTo>
                  <a:pt x="905660" y="384100"/>
                </a:lnTo>
                <a:lnTo>
                  <a:pt x="0" y="384100"/>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TextBox 4" id="4"/>
          <p:cNvSpPr txBox="true"/>
          <p:nvPr/>
        </p:nvSpPr>
        <p:spPr>
          <a:xfrm rot="0">
            <a:off x="301986" y="336503"/>
            <a:ext cx="8385477" cy="1823221"/>
          </a:xfrm>
          <a:prstGeom prst="rect">
            <a:avLst/>
          </a:prstGeom>
        </p:spPr>
        <p:txBody>
          <a:bodyPr anchor="t" rtlCol="false" tIns="0" lIns="0" bIns="0" rIns="0">
            <a:spAutoFit/>
          </a:bodyPr>
          <a:lstStyle/>
          <a:p>
            <a:pPr algn="ctr">
              <a:lnSpc>
                <a:spcPts val="7132"/>
              </a:lnSpc>
              <a:spcBef>
                <a:spcPct val="0"/>
              </a:spcBef>
            </a:pPr>
            <a:r>
              <a:rPr lang="en-US" sz="5094">
                <a:solidFill>
                  <a:srgbClr val="FFD72B"/>
                </a:solidFill>
                <a:latin typeface="Arcade Gamer"/>
                <a:ea typeface="Arcade Gamer"/>
                <a:cs typeface="Arcade Gamer"/>
                <a:sym typeface="Arcade Gamer"/>
              </a:rPr>
              <a:t>LOGICA DETRAS DE LOS MINIJUEGOS</a:t>
            </a:r>
          </a:p>
        </p:txBody>
      </p:sp>
      <p:sp>
        <p:nvSpPr>
          <p:cNvPr name="TextBox 5" id="5"/>
          <p:cNvSpPr txBox="true"/>
          <p:nvPr/>
        </p:nvSpPr>
        <p:spPr>
          <a:xfrm rot="0">
            <a:off x="301986" y="2630852"/>
            <a:ext cx="5476989" cy="2481715"/>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D72B"/>
                </a:solidFill>
                <a:latin typeface="Arimo"/>
                <a:ea typeface="Arimo"/>
                <a:cs typeface="Arimo"/>
                <a:sym typeface="Arimo"/>
              </a:rPr>
              <a:t>Probabilida</a:t>
            </a:r>
            <a:r>
              <a:rPr lang="en-US" sz="2800">
                <a:solidFill>
                  <a:srgbClr val="FFD72B"/>
                </a:solidFill>
                <a:latin typeface="Arimo"/>
                <a:ea typeface="Arimo"/>
                <a:cs typeface="Arimo"/>
                <a:sym typeface="Arimo"/>
              </a:rPr>
              <a:t>d y Amplitud (Regla de Born): </a:t>
            </a:r>
          </a:p>
          <a:p>
            <a:pPr algn="l">
              <a:lnSpc>
                <a:spcPts val="3920"/>
              </a:lnSpc>
            </a:pPr>
            <a:r>
              <a:rPr lang="en-US" sz="2800">
                <a:solidFill>
                  <a:srgbClr val="FFFFFF"/>
                </a:solidFill>
                <a:latin typeface="Arimo"/>
                <a:ea typeface="Arimo"/>
                <a:cs typeface="Arimo"/>
                <a:sym typeface="Arimo"/>
              </a:rPr>
              <a:t>El anillo de recarga visualiza que la probabilidad de un estado es su amplitud al cuadrado.</a:t>
            </a:r>
          </a:p>
        </p:txBody>
      </p:sp>
      <p:sp>
        <p:nvSpPr>
          <p:cNvPr name="TextBox 6" id="6"/>
          <p:cNvSpPr txBox="true"/>
          <p:nvPr/>
        </p:nvSpPr>
        <p:spPr>
          <a:xfrm rot="0">
            <a:off x="6200171" y="4144467"/>
            <a:ext cx="5887658" cy="3967696"/>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D72B"/>
                </a:solidFill>
                <a:latin typeface="Arimo"/>
                <a:ea typeface="Arimo"/>
                <a:cs typeface="Arimo"/>
                <a:sym typeface="Arimo"/>
              </a:rPr>
              <a:t>Azar cuánti</a:t>
            </a:r>
            <a:r>
              <a:rPr lang="en-US" sz="2799">
                <a:solidFill>
                  <a:srgbClr val="FFD72B"/>
                </a:solidFill>
                <a:latin typeface="Arimo"/>
                <a:ea typeface="Arimo"/>
                <a:cs typeface="Arimo"/>
                <a:sym typeface="Arimo"/>
              </a:rPr>
              <a:t>co vs. clásico:</a:t>
            </a:r>
          </a:p>
          <a:p>
            <a:pPr algn="l">
              <a:lnSpc>
                <a:spcPts val="3919"/>
              </a:lnSpc>
              <a:spcBef>
                <a:spcPct val="0"/>
              </a:spcBef>
            </a:pPr>
            <a:r>
              <a:rPr lang="en-US" sz="2799">
                <a:solidFill>
                  <a:srgbClr val="FFD72B"/>
                </a:solidFill>
                <a:latin typeface="Arimo"/>
                <a:ea typeface="Arimo"/>
                <a:cs typeface="Arimo"/>
                <a:sym typeface="Arimo"/>
              </a:rPr>
              <a:t> </a:t>
            </a:r>
            <a:r>
              <a:rPr lang="en-US" sz="2799">
                <a:solidFill>
                  <a:srgbClr val="FFFFFF"/>
                </a:solidFill>
                <a:latin typeface="Arimo"/>
                <a:ea typeface="Arimo"/>
                <a:cs typeface="Arimo"/>
                <a:sym typeface="Arimo"/>
              </a:rPr>
              <a:t>Las</a:t>
            </a:r>
            <a:r>
              <a:rPr lang="en-US" sz="2799">
                <a:solidFill>
                  <a:srgbClr val="FFFFFF"/>
                </a:solidFill>
                <a:latin typeface="Arimo"/>
                <a:ea typeface="Arimo"/>
                <a:cs typeface="Arimo"/>
                <a:sym typeface="Arimo"/>
              </a:rPr>
              <a:t> decisiones de esquive del bot rival (Cobraveja) no dependen de generadores de números aleatorios tradicionales; se calculan preparando un qubit en un ángulo θ, donde el éxito equivale a cos²θ y el fallo a sin²θ.</a:t>
            </a:r>
          </a:p>
        </p:txBody>
      </p:sp>
      <p:sp>
        <p:nvSpPr>
          <p:cNvPr name="TextBox 7" id="7"/>
          <p:cNvSpPr txBox="true"/>
          <p:nvPr/>
        </p:nvSpPr>
        <p:spPr>
          <a:xfrm rot="0">
            <a:off x="12506929" y="2630852"/>
            <a:ext cx="5887658" cy="3967696"/>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D72B"/>
                </a:solidFill>
                <a:latin typeface="Arimo"/>
                <a:ea typeface="Arimo"/>
                <a:cs typeface="Arimo"/>
                <a:sym typeface="Arimo"/>
              </a:rPr>
              <a:t>Ventaja </a:t>
            </a:r>
            <a:r>
              <a:rPr lang="en-US" sz="2799">
                <a:solidFill>
                  <a:srgbClr val="FFD72B"/>
                </a:solidFill>
                <a:latin typeface="Arimo"/>
                <a:ea typeface="Arimo"/>
                <a:cs typeface="Arimo"/>
                <a:sym typeface="Arimo"/>
              </a:rPr>
              <a:t>Cuántica: </a:t>
            </a:r>
          </a:p>
          <a:p>
            <a:pPr algn="l">
              <a:lnSpc>
                <a:spcPts val="3919"/>
              </a:lnSpc>
              <a:spcBef>
                <a:spcPct val="0"/>
              </a:spcBef>
            </a:pPr>
            <a:r>
              <a:rPr lang="en-US" sz="2799">
                <a:solidFill>
                  <a:srgbClr val="FFFFFF"/>
                </a:solidFill>
                <a:latin typeface="Arimo"/>
                <a:ea typeface="Arimo"/>
                <a:cs typeface="Arimo"/>
                <a:sym typeface="Arimo"/>
              </a:rPr>
              <a:t>Al competir usando habi</a:t>
            </a:r>
            <a:r>
              <a:rPr lang="en-US" sz="2799">
                <a:solidFill>
                  <a:srgbClr val="FFFFFF"/>
                </a:solidFill>
                <a:latin typeface="Arimo"/>
                <a:ea typeface="Arimo"/>
                <a:cs typeface="Arimo"/>
                <a:sym typeface="Arimo"/>
              </a:rPr>
              <a:t>lidades cuánticas contra un bot de comportamiento estrictamente clásico, el jugador comprende de forma kinestésica por qué la computación cuántica es superior para resolver ciertos problemas.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973019" y="3341791"/>
            <a:ext cx="2478391" cy="4951923"/>
          </a:xfrm>
          <a:prstGeom prst="rect">
            <a:avLst/>
          </a:prstGeom>
        </p:spPr>
      </p:pic>
      <p:sp>
        <p:nvSpPr>
          <p:cNvPr name="TextBox 3" id="3"/>
          <p:cNvSpPr txBox="true"/>
          <p:nvPr/>
        </p:nvSpPr>
        <p:spPr>
          <a:xfrm rot="0">
            <a:off x="508211" y="629191"/>
            <a:ext cx="7269822" cy="1823221"/>
          </a:xfrm>
          <a:prstGeom prst="rect">
            <a:avLst/>
          </a:prstGeom>
        </p:spPr>
        <p:txBody>
          <a:bodyPr anchor="t" rtlCol="false" tIns="0" lIns="0" bIns="0" rIns="0">
            <a:spAutoFit/>
          </a:bodyPr>
          <a:lstStyle/>
          <a:p>
            <a:pPr algn="l">
              <a:lnSpc>
                <a:spcPts val="7132"/>
              </a:lnSpc>
              <a:spcBef>
                <a:spcPct val="0"/>
              </a:spcBef>
            </a:pPr>
            <a:r>
              <a:rPr lang="en-US" sz="5094">
                <a:solidFill>
                  <a:srgbClr val="FFDE59"/>
                </a:solidFill>
                <a:latin typeface="Arcade Gamer"/>
                <a:ea typeface="Arcade Gamer"/>
                <a:cs typeface="Arcade Gamer"/>
                <a:sym typeface="Arcade Gamer"/>
              </a:rPr>
              <a:t>ESCALABILIDAD Y TRAZABILIDAD</a:t>
            </a:r>
          </a:p>
        </p:txBody>
      </p:sp>
      <p:sp>
        <p:nvSpPr>
          <p:cNvPr name="TextBox 4" id="4"/>
          <p:cNvSpPr txBox="true"/>
          <p:nvPr/>
        </p:nvSpPr>
        <p:spPr>
          <a:xfrm rot="0">
            <a:off x="5282073" y="2592705"/>
            <a:ext cx="11977227" cy="6665595"/>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FFDE59"/>
                </a:solidFill>
                <a:latin typeface="Arimo"/>
                <a:ea typeface="Arimo"/>
                <a:cs typeface="Arimo"/>
                <a:sym typeface="Arimo"/>
              </a:rPr>
              <a:t>Arquitectura desacoplada: El rendimiento visual de los minijuegos (como la recarga de anillos y réplicas fantasma) opera directamente en el navegador del usuario para asegurar fluidez, mientras que los cálculos de optimización más complejos se procesan en un servidor independiente.</a:t>
            </a:r>
          </a:p>
          <a:p>
            <a:pPr algn="l">
              <a:lnSpc>
                <a:spcPts val="3779"/>
              </a:lnSpc>
            </a:pPr>
          </a:p>
          <a:p>
            <a:pPr algn="l" marL="582930" indent="-291465" lvl="1">
              <a:lnSpc>
                <a:spcPts val="3779"/>
              </a:lnSpc>
              <a:buFont typeface="Arial"/>
              <a:buChar char="•"/>
            </a:pPr>
            <a:r>
              <a:rPr lang="en-US" sz="2700">
                <a:solidFill>
                  <a:srgbClr val="FFDE59"/>
                </a:solidFill>
                <a:latin typeface="Arimo"/>
                <a:ea typeface="Arimo"/>
                <a:cs typeface="Arimo"/>
                <a:sym typeface="Arimo"/>
              </a:rPr>
              <a:t>Expansión modular: La estructura del juego tipo "Mario Party" permite agregar nuevos minijuegos, mecánicas o niveles de dificultad sin tener que reprogramar o alterar el núcleo central de la plataforma.</a:t>
            </a:r>
          </a:p>
          <a:p>
            <a:pPr algn="l">
              <a:lnSpc>
                <a:spcPts val="3779"/>
              </a:lnSpc>
            </a:pPr>
          </a:p>
          <a:p>
            <a:pPr algn="l" marL="582930" indent="-291465" lvl="1">
              <a:lnSpc>
                <a:spcPts val="3779"/>
              </a:lnSpc>
              <a:buFont typeface="Arial"/>
              <a:buChar char="•"/>
            </a:pPr>
            <a:r>
              <a:rPr lang="en-US" sz="2700">
                <a:solidFill>
                  <a:srgbClr val="FFDE59"/>
                </a:solidFill>
                <a:latin typeface="Arimo"/>
                <a:ea typeface="Arimo"/>
                <a:cs typeface="Arimo"/>
                <a:sym typeface="Arimo"/>
              </a:rPr>
              <a:t>Accesibilidad sin barreras: Al ser un entorno basado en web, no requiere que los adolescentes o las escuelas inviertan en computadoras de alto rendimiento ni descargas pesadas; solo necesitan un navegador estándar para ejecutar la experiencia.</a:t>
            </a:r>
          </a:p>
          <a:p>
            <a:pPr algn="l">
              <a:lnSpc>
                <a:spcPts val="377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973019" y="3341791"/>
            <a:ext cx="2478391" cy="4951923"/>
          </a:xfrm>
          <a:prstGeom prst="rect">
            <a:avLst/>
          </a:prstGeom>
        </p:spPr>
      </p:pic>
      <p:sp>
        <p:nvSpPr>
          <p:cNvPr name="TextBox 3" id="3"/>
          <p:cNvSpPr txBox="true"/>
          <p:nvPr/>
        </p:nvSpPr>
        <p:spPr>
          <a:xfrm rot="0">
            <a:off x="508211" y="629191"/>
            <a:ext cx="7269822" cy="1823221"/>
          </a:xfrm>
          <a:prstGeom prst="rect">
            <a:avLst/>
          </a:prstGeom>
        </p:spPr>
        <p:txBody>
          <a:bodyPr anchor="t" rtlCol="false" tIns="0" lIns="0" bIns="0" rIns="0">
            <a:spAutoFit/>
          </a:bodyPr>
          <a:lstStyle/>
          <a:p>
            <a:pPr algn="l">
              <a:lnSpc>
                <a:spcPts val="7132"/>
              </a:lnSpc>
              <a:spcBef>
                <a:spcPct val="0"/>
              </a:spcBef>
            </a:pPr>
            <a:r>
              <a:rPr lang="en-US" sz="5094">
                <a:solidFill>
                  <a:srgbClr val="FFDE59"/>
                </a:solidFill>
                <a:latin typeface="Arcade Gamer"/>
                <a:ea typeface="Arcade Gamer"/>
                <a:cs typeface="Arcade Gamer"/>
                <a:sym typeface="Arcade Gamer"/>
              </a:rPr>
              <a:t>ESCALABILIDAD Y TRAZABILIDAD</a:t>
            </a:r>
          </a:p>
        </p:txBody>
      </p:sp>
      <p:sp>
        <p:nvSpPr>
          <p:cNvPr name="TextBox 4" id="4"/>
          <p:cNvSpPr txBox="true"/>
          <p:nvPr/>
        </p:nvSpPr>
        <p:spPr>
          <a:xfrm rot="0">
            <a:off x="5842479" y="2592705"/>
            <a:ext cx="11977227" cy="6665595"/>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FFDE59"/>
                </a:solidFill>
                <a:latin typeface="Arimo"/>
                <a:ea typeface="Arimo"/>
                <a:cs typeface="Arimo"/>
                <a:sym typeface="Arimo"/>
              </a:rPr>
              <a:t>Rigor académico certificado: Todo el conocimiento impartido (como los duelos de Verdadero/Falso) no es inventado; está directamente mapeado y es trazable a la documentación y currículo oficial de qBronze de QWorld.</a:t>
            </a:r>
          </a:p>
          <a:p>
            <a:pPr algn="l">
              <a:lnSpc>
                <a:spcPts val="3779"/>
              </a:lnSpc>
            </a:pPr>
          </a:p>
          <a:p>
            <a:pPr algn="l" marL="582930" indent="-291465" lvl="1">
              <a:lnSpc>
                <a:spcPts val="3779"/>
              </a:lnSpc>
              <a:buFont typeface="Arial"/>
              <a:buChar char="•"/>
            </a:pPr>
            <a:r>
              <a:rPr lang="en-US" sz="2700">
                <a:solidFill>
                  <a:srgbClr val="FFDE59"/>
                </a:solidFill>
                <a:latin typeface="Arimo"/>
                <a:ea typeface="Arimo"/>
                <a:cs typeface="Arimo"/>
                <a:sym typeface="Arimo"/>
              </a:rPr>
              <a:t>Telemetría silenciosa: El sistema registra cada acción del jugador en segundo plano (tiempos de reacción, eficiencia al usar la barra de coherencia, tasa de aciertos al esquivar), generando una gran cantidad de datos sin interrumpir la diversión.</a:t>
            </a:r>
          </a:p>
          <a:p>
            <a:pPr algn="l">
              <a:lnSpc>
                <a:spcPts val="3779"/>
              </a:lnSpc>
            </a:pPr>
          </a:p>
          <a:p>
            <a:pPr algn="l" marL="582930" indent="-291465" lvl="1">
              <a:lnSpc>
                <a:spcPts val="3779"/>
              </a:lnSpc>
              <a:buFont typeface="Arial"/>
              <a:buChar char="•"/>
            </a:pPr>
            <a:r>
              <a:rPr lang="en-US" sz="2700">
                <a:solidFill>
                  <a:srgbClr val="FFDE59"/>
                </a:solidFill>
                <a:latin typeface="Arimo"/>
                <a:ea typeface="Arimo"/>
                <a:cs typeface="Arimo"/>
                <a:sym typeface="Arimo"/>
              </a:rPr>
              <a:t>Evalua</a:t>
            </a:r>
            <a:r>
              <a:rPr lang="en-US" sz="2700">
                <a:solidFill>
                  <a:srgbClr val="FFDE59"/>
                </a:solidFill>
                <a:latin typeface="Arimo"/>
                <a:ea typeface="Arimo"/>
                <a:cs typeface="Arimo"/>
                <a:sym typeface="Arimo"/>
              </a:rPr>
              <a:t>ción invisible: Toda esta data se traduce en métricas de progreso reales. Permite a los profesores o evaluadores visualizar la curva de aprendizaje y comprensión del usuario sin necesidad de aplicar un solo examen tradicional.</a:t>
            </a:r>
          </a:p>
          <a:p>
            <a:pPr algn="l">
              <a:lnSpc>
                <a:spcPts val="377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4503081" y="324746"/>
            <a:ext cx="1216513" cy="515937"/>
          </a:xfrm>
          <a:custGeom>
            <a:avLst/>
            <a:gdLst/>
            <a:ahLst/>
            <a:cxnLst/>
            <a:rect r="r" b="b" t="t" l="l"/>
            <a:pathLst>
              <a:path h="515937" w="1216513">
                <a:moveTo>
                  <a:pt x="0" y="0"/>
                </a:moveTo>
                <a:lnTo>
                  <a:pt x="1216513" y="0"/>
                </a:lnTo>
                <a:lnTo>
                  <a:pt x="1216513" y="515937"/>
                </a:lnTo>
                <a:lnTo>
                  <a:pt x="0" y="515937"/>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3" id="3"/>
          <p:cNvSpPr/>
          <p:nvPr/>
        </p:nvSpPr>
        <p:spPr>
          <a:xfrm flipH="false" flipV="false" rot="0">
            <a:off x="7462150" y="7884824"/>
            <a:ext cx="971550" cy="971550"/>
          </a:xfrm>
          <a:custGeom>
            <a:avLst/>
            <a:gdLst/>
            <a:ahLst/>
            <a:cxnLst/>
            <a:rect r="r" b="b" t="t" l="l"/>
            <a:pathLst>
              <a:path h="971550" w="971550">
                <a:moveTo>
                  <a:pt x="0" y="0"/>
                </a:moveTo>
                <a:lnTo>
                  <a:pt x="971550" y="0"/>
                </a:lnTo>
                <a:lnTo>
                  <a:pt x="971550" y="971550"/>
                </a:lnTo>
                <a:lnTo>
                  <a:pt x="0" y="9715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464283" y="8823449"/>
            <a:ext cx="21372017" cy="1426963"/>
            <a:chOff x="0" y="0"/>
            <a:chExt cx="28496023" cy="1902617"/>
          </a:xfrm>
        </p:grpSpPr>
        <p:sp>
          <p:nvSpPr>
            <p:cNvPr name="Freeform 5" id="5"/>
            <p:cNvSpPr/>
            <p:nvPr/>
          </p:nvSpPr>
          <p:spPr>
            <a:xfrm flipH="false" flipV="false" rot="0">
              <a:off x="0" y="0"/>
              <a:ext cx="11132334" cy="1902617"/>
            </a:xfrm>
            <a:custGeom>
              <a:avLst/>
              <a:gdLst/>
              <a:ahLst/>
              <a:cxnLst/>
              <a:rect r="r" b="b" t="t" l="l"/>
              <a:pathLst>
                <a:path h="1902617" w="11132334">
                  <a:moveTo>
                    <a:pt x="0" y="0"/>
                  </a:moveTo>
                  <a:lnTo>
                    <a:pt x="11132334" y="0"/>
                  </a:lnTo>
                  <a:lnTo>
                    <a:pt x="11132334" y="1902617"/>
                  </a:lnTo>
                  <a:lnTo>
                    <a:pt x="0" y="19026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57491" y="0"/>
              <a:ext cx="11132334" cy="1902617"/>
            </a:xfrm>
            <a:custGeom>
              <a:avLst/>
              <a:gdLst/>
              <a:ahLst/>
              <a:cxnLst/>
              <a:rect r="r" b="b" t="t" l="l"/>
              <a:pathLst>
                <a:path h="1902617" w="11132334">
                  <a:moveTo>
                    <a:pt x="0" y="0"/>
                  </a:moveTo>
                  <a:lnTo>
                    <a:pt x="11132334" y="0"/>
                  </a:lnTo>
                  <a:lnTo>
                    <a:pt x="11132334" y="1902617"/>
                  </a:lnTo>
                  <a:lnTo>
                    <a:pt x="0" y="19026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7363689" y="0"/>
              <a:ext cx="11132334" cy="1902617"/>
            </a:xfrm>
            <a:custGeom>
              <a:avLst/>
              <a:gdLst/>
              <a:ahLst/>
              <a:cxnLst/>
              <a:rect r="r" b="b" t="t" l="l"/>
              <a:pathLst>
                <a:path h="1902617" w="11132334">
                  <a:moveTo>
                    <a:pt x="0" y="0"/>
                  </a:moveTo>
                  <a:lnTo>
                    <a:pt x="11132334" y="0"/>
                  </a:lnTo>
                  <a:lnTo>
                    <a:pt x="11132334" y="1902617"/>
                  </a:lnTo>
                  <a:lnTo>
                    <a:pt x="0" y="19026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8" id="8"/>
          <p:cNvSpPr/>
          <p:nvPr/>
        </p:nvSpPr>
        <p:spPr>
          <a:xfrm flipH="false" flipV="false" rot="0">
            <a:off x="5008764" y="5524972"/>
            <a:ext cx="3222185" cy="2055949"/>
          </a:xfrm>
          <a:custGeom>
            <a:avLst/>
            <a:gdLst/>
            <a:ahLst/>
            <a:cxnLst/>
            <a:rect r="r" b="b" t="t" l="l"/>
            <a:pathLst>
              <a:path h="2055949" w="3222185">
                <a:moveTo>
                  <a:pt x="0" y="0"/>
                </a:moveTo>
                <a:lnTo>
                  <a:pt x="3222185" y="0"/>
                </a:lnTo>
                <a:lnTo>
                  <a:pt x="3222185" y="2055949"/>
                </a:lnTo>
                <a:lnTo>
                  <a:pt x="0" y="2055949"/>
                </a:lnTo>
                <a:lnTo>
                  <a:pt x="0" y="0"/>
                </a:lnTo>
                <a:close/>
              </a:path>
            </a:pathLst>
          </a:custGeom>
          <a:blipFill>
            <a:blip r:embed="rId6">
              <a:extLst>
                <a:ext uri="{96DAC541-7B7A-43D3-8B79-37D633B846F1}">
                  <asvg:svgBlip xmlns:asvg="http://schemas.microsoft.com/office/drawing/2016/SVG/main" r:embed="rId7"/>
                </a:ext>
              </a:extLst>
            </a:blip>
            <a:stretch>
              <a:fillRect l="-14561" t="0" r="-258771" b="0"/>
            </a:stretch>
          </a:blipFill>
        </p:spPr>
      </p:sp>
      <p:sp>
        <p:nvSpPr>
          <p:cNvPr name="Freeform 9" id="9"/>
          <p:cNvSpPr/>
          <p:nvPr/>
        </p:nvSpPr>
        <p:spPr>
          <a:xfrm flipH="false" flipV="false" rot="0">
            <a:off x="9732840" y="5501513"/>
            <a:ext cx="3222185" cy="2055949"/>
          </a:xfrm>
          <a:custGeom>
            <a:avLst/>
            <a:gdLst/>
            <a:ahLst/>
            <a:cxnLst/>
            <a:rect r="r" b="b" t="t" l="l"/>
            <a:pathLst>
              <a:path h="2055949" w="3222185">
                <a:moveTo>
                  <a:pt x="0" y="0"/>
                </a:moveTo>
                <a:lnTo>
                  <a:pt x="3222184" y="0"/>
                </a:lnTo>
                <a:lnTo>
                  <a:pt x="3222184" y="2055949"/>
                </a:lnTo>
                <a:lnTo>
                  <a:pt x="0" y="2055949"/>
                </a:lnTo>
                <a:lnTo>
                  <a:pt x="0" y="0"/>
                </a:lnTo>
                <a:close/>
              </a:path>
            </a:pathLst>
          </a:custGeom>
          <a:blipFill>
            <a:blip r:embed="rId6">
              <a:extLst>
                <a:ext uri="{96DAC541-7B7A-43D3-8B79-37D633B846F1}">
                  <asvg:svgBlip xmlns:asvg="http://schemas.microsoft.com/office/drawing/2016/SVG/main" r:embed="rId7"/>
                </a:ext>
              </a:extLst>
            </a:blip>
            <a:stretch>
              <a:fillRect l="-14561" t="0" r="-258771" b="0"/>
            </a:stretch>
          </a:blipFill>
        </p:spPr>
      </p:sp>
      <p:sp>
        <p:nvSpPr>
          <p:cNvPr name="Freeform 10" id="10"/>
          <p:cNvSpPr/>
          <p:nvPr/>
        </p:nvSpPr>
        <p:spPr>
          <a:xfrm flipH="false" flipV="false" rot="0">
            <a:off x="14456538" y="5524972"/>
            <a:ext cx="3222185" cy="2055949"/>
          </a:xfrm>
          <a:custGeom>
            <a:avLst/>
            <a:gdLst/>
            <a:ahLst/>
            <a:cxnLst/>
            <a:rect r="r" b="b" t="t" l="l"/>
            <a:pathLst>
              <a:path h="2055949" w="3222185">
                <a:moveTo>
                  <a:pt x="0" y="0"/>
                </a:moveTo>
                <a:lnTo>
                  <a:pt x="3222185" y="0"/>
                </a:lnTo>
                <a:lnTo>
                  <a:pt x="3222185" y="2055949"/>
                </a:lnTo>
                <a:lnTo>
                  <a:pt x="0" y="2055949"/>
                </a:lnTo>
                <a:lnTo>
                  <a:pt x="0" y="0"/>
                </a:lnTo>
                <a:close/>
              </a:path>
            </a:pathLst>
          </a:custGeom>
          <a:blipFill>
            <a:blip r:embed="rId6">
              <a:extLst>
                <a:ext uri="{96DAC541-7B7A-43D3-8B79-37D633B846F1}">
                  <asvg:svgBlip xmlns:asvg="http://schemas.microsoft.com/office/drawing/2016/SVG/main" r:embed="rId7"/>
                </a:ext>
              </a:extLst>
            </a:blip>
            <a:stretch>
              <a:fillRect l="-14561" t="0" r="-258771" b="0"/>
            </a:stretch>
          </a:blipFill>
        </p:spPr>
      </p:sp>
      <p:sp>
        <p:nvSpPr>
          <p:cNvPr name="Freeform 11" id="11"/>
          <p:cNvSpPr/>
          <p:nvPr/>
        </p:nvSpPr>
        <p:spPr>
          <a:xfrm flipH="false" flipV="false" rot="0">
            <a:off x="9931063" y="2233337"/>
            <a:ext cx="2825738" cy="3610138"/>
          </a:xfrm>
          <a:custGeom>
            <a:avLst/>
            <a:gdLst/>
            <a:ahLst/>
            <a:cxnLst/>
            <a:rect r="r" b="b" t="t" l="l"/>
            <a:pathLst>
              <a:path h="3610138" w="2825738">
                <a:moveTo>
                  <a:pt x="0" y="0"/>
                </a:moveTo>
                <a:lnTo>
                  <a:pt x="2825738" y="0"/>
                </a:lnTo>
                <a:lnTo>
                  <a:pt x="2825738" y="3610138"/>
                </a:lnTo>
                <a:lnTo>
                  <a:pt x="0" y="3610138"/>
                </a:lnTo>
                <a:lnTo>
                  <a:pt x="0" y="0"/>
                </a:lnTo>
                <a:close/>
              </a:path>
            </a:pathLst>
          </a:custGeom>
          <a:blipFill>
            <a:blip r:embed="rId8"/>
            <a:stretch>
              <a:fillRect l="0" t="-27983" r="0" b="-11321"/>
            </a:stretch>
          </a:blipFill>
        </p:spPr>
      </p:sp>
      <p:sp>
        <p:nvSpPr>
          <p:cNvPr name="Freeform 12" id="12"/>
          <p:cNvSpPr/>
          <p:nvPr/>
        </p:nvSpPr>
        <p:spPr>
          <a:xfrm flipH="false" flipV="false" rot="0">
            <a:off x="4594888" y="2005093"/>
            <a:ext cx="3838812" cy="3833928"/>
          </a:xfrm>
          <a:custGeom>
            <a:avLst/>
            <a:gdLst/>
            <a:ahLst/>
            <a:cxnLst/>
            <a:rect r="r" b="b" t="t" l="l"/>
            <a:pathLst>
              <a:path h="3833928" w="3838812">
                <a:moveTo>
                  <a:pt x="0" y="0"/>
                </a:moveTo>
                <a:lnTo>
                  <a:pt x="3838812" y="0"/>
                </a:lnTo>
                <a:lnTo>
                  <a:pt x="3838812" y="3833927"/>
                </a:lnTo>
                <a:lnTo>
                  <a:pt x="0" y="3833927"/>
                </a:lnTo>
                <a:lnTo>
                  <a:pt x="0" y="0"/>
                </a:lnTo>
                <a:close/>
              </a:path>
            </a:pathLst>
          </a:custGeom>
          <a:blipFill>
            <a:blip r:embed="rId9"/>
            <a:stretch>
              <a:fillRect l="0" t="0" r="0" b="0"/>
            </a:stretch>
          </a:blipFill>
        </p:spPr>
      </p:sp>
      <p:sp>
        <p:nvSpPr>
          <p:cNvPr name="TextBox 13" id="13"/>
          <p:cNvSpPr txBox="true"/>
          <p:nvPr/>
        </p:nvSpPr>
        <p:spPr>
          <a:xfrm rot="0">
            <a:off x="364701" y="181871"/>
            <a:ext cx="4740067" cy="1823221"/>
          </a:xfrm>
          <a:prstGeom prst="rect">
            <a:avLst/>
          </a:prstGeom>
        </p:spPr>
        <p:txBody>
          <a:bodyPr anchor="t" rtlCol="false" tIns="0" lIns="0" bIns="0" rIns="0">
            <a:spAutoFit/>
          </a:bodyPr>
          <a:lstStyle/>
          <a:p>
            <a:pPr algn="l">
              <a:lnSpc>
                <a:spcPts val="7132"/>
              </a:lnSpc>
              <a:spcBef>
                <a:spcPct val="0"/>
              </a:spcBef>
            </a:pPr>
            <a:r>
              <a:rPr lang="en-US" sz="5094">
                <a:solidFill>
                  <a:srgbClr val="FFDE59"/>
                </a:solidFill>
                <a:latin typeface="Arcade Gamer"/>
                <a:ea typeface="Arcade Gamer"/>
                <a:cs typeface="Arcade Gamer"/>
                <a:sym typeface="Arcade Gamer"/>
              </a:rPr>
              <a:t>NUESTRO EQUIPO</a:t>
            </a:r>
          </a:p>
        </p:txBody>
      </p:sp>
      <p:sp>
        <p:nvSpPr>
          <p:cNvPr name="Freeform 14" id="14"/>
          <p:cNvSpPr/>
          <p:nvPr/>
        </p:nvSpPr>
        <p:spPr>
          <a:xfrm flipH="false" flipV="false" rot="0">
            <a:off x="756246" y="5501513"/>
            <a:ext cx="3295717" cy="2102867"/>
          </a:xfrm>
          <a:custGeom>
            <a:avLst/>
            <a:gdLst/>
            <a:ahLst/>
            <a:cxnLst/>
            <a:rect r="r" b="b" t="t" l="l"/>
            <a:pathLst>
              <a:path h="2102867" w="3295717">
                <a:moveTo>
                  <a:pt x="0" y="0"/>
                </a:moveTo>
                <a:lnTo>
                  <a:pt x="3295717" y="0"/>
                </a:lnTo>
                <a:lnTo>
                  <a:pt x="3295717" y="2102867"/>
                </a:lnTo>
                <a:lnTo>
                  <a:pt x="0" y="2102867"/>
                </a:lnTo>
                <a:lnTo>
                  <a:pt x="0" y="0"/>
                </a:lnTo>
                <a:close/>
              </a:path>
            </a:pathLst>
          </a:custGeom>
          <a:blipFill>
            <a:blip r:embed="rId6">
              <a:extLst>
                <a:ext uri="{96DAC541-7B7A-43D3-8B79-37D633B846F1}">
                  <asvg:svgBlip xmlns:asvg="http://schemas.microsoft.com/office/drawing/2016/SVG/main" r:embed="rId7"/>
                </a:ext>
              </a:extLst>
            </a:blip>
            <a:stretch>
              <a:fillRect l="-14561" t="0" r="-258771" b="0"/>
            </a:stretch>
          </a:blipFill>
        </p:spPr>
      </p:sp>
      <p:sp>
        <p:nvSpPr>
          <p:cNvPr name="Freeform 15" id="15"/>
          <p:cNvSpPr/>
          <p:nvPr/>
        </p:nvSpPr>
        <p:spPr>
          <a:xfrm flipH="false" flipV="false" rot="0">
            <a:off x="0" y="1973918"/>
            <a:ext cx="5298039" cy="3865103"/>
          </a:xfrm>
          <a:custGeom>
            <a:avLst/>
            <a:gdLst/>
            <a:ahLst/>
            <a:cxnLst/>
            <a:rect r="r" b="b" t="t" l="l"/>
            <a:pathLst>
              <a:path h="3865103" w="5298039">
                <a:moveTo>
                  <a:pt x="0" y="0"/>
                </a:moveTo>
                <a:lnTo>
                  <a:pt x="5298039" y="0"/>
                </a:lnTo>
                <a:lnTo>
                  <a:pt x="5298039" y="3865102"/>
                </a:lnTo>
                <a:lnTo>
                  <a:pt x="0" y="3865102"/>
                </a:lnTo>
                <a:lnTo>
                  <a:pt x="0" y="0"/>
                </a:lnTo>
                <a:close/>
              </a:path>
            </a:pathLst>
          </a:custGeom>
          <a:blipFill>
            <a:blip r:embed="rId10"/>
            <a:stretch>
              <a:fillRect l="0" t="0" r="0" b="-37073"/>
            </a:stretch>
          </a:blipFill>
        </p:spPr>
      </p:sp>
      <p:sp>
        <p:nvSpPr>
          <p:cNvPr name="Freeform 16" id="16"/>
          <p:cNvSpPr/>
          <p:nvPr/>
        </p:nvSpPr>
        <p:spPr>
          <a:xfrm flipH="false" flipV="false" rot="0">
            <a:off x="15874133" y="324746"/>
            <a:ext cx="1216513" cy="515937"/>
          </a:xfrm>
          <a:custGeom>
            <a:avLst/>
            <a:gdLst/>
            <a:ahLst/>
            <a:cxnLst/>
            <a:rect r="r" b="b" t="t" l="l"/>
            <a:pathLst>
              <a:path h="515937" w="1216513">
                <a:moveTo>
                  <a:pt x="0" y="0"/>
                </a:moveTo>
                <a:lnTo>
                  <a:pt x="1216512" y="0"/>
                </a:lnTo>
                <a:lnTo>
                  <a:pt x="1216512" y="515937"/>
                </a:lnTo>
                <a:lnTo>
                  <a:pt x="0" y="515937"/>
                </a:lnTo>
                <a:lnTo>
                  <a:pt x="0" y="0"/>
                </a:lnTo>
                <a:close/>
              </a:path>
            </a:pathLst>
          </a:custGeom>
          <a:blipFill>
            <a:blip r:embed="rId2">
              <a:extLst>
                <a:ext uri="{96DAC541-7B7A-43D3-8B79-37D633B846F1}">
                  <asvg:svgBlip xmlns:asvg="http://schemas.microsoft.com/office/drawing/2016/SVG/main" r:embed="rId3"/>
                </a:ext>
              </a:extLst>
            </a:blip>
            <a:stretch>
              <a:fillRect l="-160106" t="0" r="0" b="-1472"/>
            </a:stretch>
          </a:blipFill>
        </p:spPr>
      </p:sp>
      <p:sp>
        <p:nvSpPr>
          <p:cNvPr name="Freeform 17" id="17"/>
          <p:cNvSpPr/>
          <p:nvPr/>
        </p:nvSpPr>
        <p:spPr>
          <a:xfrm flipH="false" flipV="false" rot="0">
            <a:off x="14547418" y="2061704"/>
            <a:ext cx="3040426" cy="3862329"/>
          </a:xfrm>
          <a:custGeom>
            <a:avLst/>
            <a:gdLst/>
            <a:ahLst/>
            <a:cxnLst/>
            <a:rect r="r" b="b" t="t" l="l"/>
            <a:pathLst>
              <a:path h="3862329" w="3040426">
                <a:moveTo>
                  <a:pt x="0" y="0"/>
                </a:moveTo>
                <a:lnTo>
                  <a:pt x="3040425" y="0"/>
                </a:lnTo>
                <a:lnTo>
                  <a:pt x="3040425" y="3862330"/>
                </a:lnTo>
                <a:lnTo>
                  <a:pt x="0" y="3862330"/>
                </a:lnTo>
                <a:lnTo>
                  <a:pt x="0" y="0"/>
                </a:lnTo>
                <a:close/>
              </a:path>
            </a:pathLst>
          </a:custGeom>
          <a:blipFill>
            <a:blip r:embed="rId11"/>
            <a:stretch>
              <a:fillRect l="0" t="0" r="0" b="-8726"/>
            </a:stretch>
          </a:blipFill>
        </p:spPr>
      </p:sp>
      <p:sp>
        <p:nvSpPr>
          <p:cNvPr name="TextBox 18" id="18"/>
          <p:cNvSpPr txBox="true"/>
          <p:nvPr/>
        </p:nvSpPr>
        <p:spPr>
          <a:xfrm rot="0">
            <a:off x="14069542" y="6060596"/>
            <a:ext cx="3831588" cy="1823221"/>
          </a:xfrm>
          <a:prstGeom prst="rect">
            <a:avLst/>
          </a:prstGeom>
        </p:spPr>
        <p:txBody>
          <a:bodyPr anchor="t" rtlCol="false" tIns="0" lIns="0" bIns="0" rIns="0">
            <a:spAutoFit/>
          </a:bodyPr>
          <a:lstStyle/>
          <a:p>
            <a:pPr algn="ctr">
              <a:lnSpc>
                <a:spcPts val="7132"/>
              </a:lnSpc>
              <a:spcBef>
                <a:spcPct val="0"/>
              </a:spcBef>
            </a:pPr>
            <a:r>
              <a:rPr lang="en-US" sz="5094">
                <a:solidFill>
                  <a:srgbClr val="FFDE59"/>
                </a:solidFill>
                <a:latin typeface="Arcade Gamer"/>
                <a:ea typeface="Arcade Gamer"/>
                <a:cs typeface="Arcade Gamer"/>
                <a:sym typeface="Arcade Gamer"/>
              </a:rPr>
              <a:t>SAMMYRA GARCÍA</a:t>
            </a:r>
          </a:p>
        </p:txBody>
      </p:sp>
      <p:sp>
        <p:nvSpPr>
          <p:cNvPr name="TextBox 19" id="19"/>
          <p:cNvSpPr txBox="true"/>
          <p:nvPr/>
        </p:nvSpPr>
        <p:spPr>
          <a:xfrm rot="0">
            <a:off x="34071" y="5781159"/>
            <a:ext cx="4740067" cy="1823221"/>
          </a:xfrm>
          <a:prstGeom prst="rect">
            <a:avLst/>
          </a:prstGeom>
        </p:spPr>
        <p:txBody>
          <a:bodyPr anchor="t" rtlCol="false" tIns="0" lIns="0" bIns="0" rIns="0">
            <a:spAutoFit/>
          </a:bodyPr>
          <a:lstStyle/>
          <a:p>
            <a:pPr algn="ctr">
              <a:lnSpc>
                <a:spcPts val="7132"/>
              </a:lnSpc>
              <a:spcBef>
                <a:spcPct val="0"/>
              </a:spcBef>
            </a:pPr>
            <a:r>
              <a:rPr lang="en-US" sz="5094">
                <a:solidFill>
                  <a:srgbClr val="FFDE59"/>
                </a:solidFill>
                <a:latin typeface="Arcade Gamer"/>
                <a:ea typeface="Arcade Gamer"/>
                <a:cs typeface="Arcade Gamer"/>
                <a:sym typeface="Arcade Gamer"/>
              </a:rPr>
              <a:t>DANIEL MAMANI</a:t>
            </a:r>
          </a:p>
        </p:txBody>
      </p:sp>
      <p:sp>
        <p:nvSpPr>
          <p:cNvPr name="TextBox 20" id="20"/>
          <p:cNvSpPr txBox="true"/>
          <p:nvPr/>
        </p:nvSpPr>
        <p:spPr>
          <a:xfrm rot="0">
            <a:off x="5217066" y="6061603"/>
            <a:ext cx="2880653" cy="1823221"/>
          </a:xfrm>
          <a:prstGeom prst="rect">
            <a:avLst/>
          </a:prstGeom>
        </p:spPr>
        <p:txBody>
          <a:bodyPr anchor="t" rtlCol="false" tIns="0" lIns="0" bIns="0" rIns="0">
            <a:spAutoFit/>
          </a:bodyPr>
          <a:lstStyle/>
          <a:p>
            <a:pPr algn="ctr">
              <a:lnSpc>
                <a:spcPts val="7132"/>
              </a:lnSpc>
              <a:spcBef>
                <a:spcPct val="0"/>
              </a:spcBef>
            </a:pPr>
            <a:r>
              <a:rPr lang="en-US" sz="5094">
                <a:solidFill>
                  <a:srgbClr val="FFDE59"/>
                </a:solidFill>
                <a:latin typeface="Arcade Gamer"/>
                <a:ea typeface="Arcade Gamer"/>
                <a:cs typeface="Arcade Gamer"/>
                <a:sym typeface="Arcade Gamer"/>
              </a:rPr>
              <a:t>FREDY POLAR</a:t>
            </a:r>
          </a:p>
        </p:txBody>
      </p:sp>
      <p:sp>
        <p:nvSpPr>
          <p:cNvPr name="TextBox 21" id="21"/>
          <p:cNvSpPr txBox="true"/>
          <p:nvPr/>
        </p:nvSpPr>
        <p:spPr>
          <a:xfrm rot="0">
            <a:off x="8973899" y="6060596"/>
            <a:ext cx="4740067" cy="1823221"/>
          </a:xfrm>
          <a:prstGeom prst="rect">
            <a:avLst/>
          </a:prstGeom>
        </p:spPr>
        <p:txBody>
          <a:bodyPr anchor="t" rtlCol="false" tIns="0" lIns="0" bIns="0" rIns="0">
            <a:spAutoFit/>
          </a:bodyPr>
          <a:lstStyle/>
          <a:p>
            <a:pPr algn="ctr">
              <a:lnSpc>
                <a:spcPts val="7132"/>
              </a:lnSpc>
              <a:spcBef>
                <a:spcPct val="0"/>
              </a:spcBef>
            </a:pPr>
            <a:r>
              <a:rPr lang="en-US" sz="5094">
                <a:solidFill>
                  <a:srgbClr val="FFDE59"/>
                </a:solidFill>
                <a:latin typeface="Arcade Gamer"/>
                <a:ea typeface="Arcade Gamer"/>
                <a:cs typeface="Arcade Gamer"/>
                <a:sym typeface="Arcade Gamer"/>
              </a:rPr>
              <a:t>OSCAR CÉSPEDES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5103068" y="2395327"/>
            <a:ext cx="6861692" cy="2302828"/>
          </a:xfrm>
          <a:prstGeom prst="rect">
            <a:avLst/>
          </a:prstGeom>
        </p:spPr>
      </p:pic>
      <p:sp>
        <p:nvSpPr>
          <p:cNvPr name="TextBox 3" id="3"/>
          <p:cNvSpPr txBox="true"/>
          <p:nvPr/>
        </p:nvSpPr>
        <p:spPr>
          <a:xfrm rot="0">
            <a:off x="3341431" y="5010150"/>
            <a:ext cx="10384965" cy="799257"/>
          </a:xfrm>
          <a:prstGeom prst="rect">
            <a:avLst/>
          </a:prstGeom>
        </p:spPr>
        <p:txBody>
          <a:bodyPr anchor="t" rtlCol="false" tIns="0" lIns="0" bIns="0" rIns="0">
            <a:spAutoFit/>
          </a:bodyPr>
          <a:lstStyle/>
          <a:p>
            <a:pPr algn="ctr">
              <a:lnSpc>
                <a:spcPts val="6207"/>
              </a:lnSpc>
              <a:spcBef>
                <a:spcPct val="0"/>
              </a:spcBef>
            </a:pPr>
            <a:r>
              <a:rPr lang="en-US" sz="4433">
                <a:solidFill>
                  <a:srgbClr val="FFD72B"/>
                </a:solidFill>
                <a:latin typeface="Arcade Gamer"/>
                <a:ea typeface="Arcade Gamer"/>
                <a:cs typeface="Arcade Gamer"/>
                <a:sym typeface="Arcade Gamer"/>
              </a:rPr>
              <a:t>Gracias 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DAHQOZllJoI</dc:identifier>
  <dcterms:modified xsi:type="dcterms:W3CDTF">2011-08-01T06:04:30Z</dcterms:modified>
  <cp:revision>1</cp:revision>
  <dc:title>Presentación Empresa Negocio Retro Game</dc:title>
</cp:coreProperties>
</file>